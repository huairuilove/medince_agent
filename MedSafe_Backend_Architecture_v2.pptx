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345E"/>
          </a:solidFill>
          <a:ln/>
        </p:spPr>
      </p:sp>
      <p:sp>
        <p:nvSpPr>
          <p:cNvPr id="3" name="Shape 1"/>
          <p:cNvSpPr/>
          <p:nvPr/>
        </p:nvSpPr>
        <p:spPr>
          <a:xfrm>
            <a:off x="4251960" y="548640"/>
            <a:ext cx="640080" cy="1645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453128" y="347472"/>
            <a:ext cx="237744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智能用药安全审查系统 · 后端算法架构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36576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Debate · Rule Engine · FHIR R4 · Knowledge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24,407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行后端代码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143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1752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临床科室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39,679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条安全规则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Vue 3 + Python 3.12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系统架构总览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四引擎驱动 · 确定性优先 · 人在回路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24712"/>
            <a:ext cx="73152" cy="6309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确定性规则引擎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 · 重复用药 · 人群禁忌 · 过敏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39,679 条规则硬拦截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84832"/>
            <a:ext cx="73152" cy="630936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多智能体协作辩论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MDAgents Debate + ClinicalPilot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专科 Agent 多轮辩论达成共识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27889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44952"/>
            <a:ext cx="73152" cy="630936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主任仲裁引擎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Chief Reviewer 综合分歧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&gt; 0.75 自动签发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05072"/>
            <a:ext cx="73152" cy="63093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澄清补全引擎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ClarifyEngine 缺失关键信息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引导用户补全后重新审查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105156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7FBFD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206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核心设计理念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15544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确定性优先：规则引擎在 LLM 之前执行，安全底线不可被覆盖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20299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人在回路：药师审核 + 覆盖审计链，LLM 不直接执行医嘱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25054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多源融合：结构化 KB + 知识图谱 + TWOSIDES 真实世界信号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29809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FHIR 互操作：标准 Bundle 输入输出，对接 HIS/EMR 系统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34564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科室专业化：28 科室差异化路由、处方集、安全规则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3931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全链路审计：从 CPOE 录入到药师签发，每一步可追溯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确定性规则引擎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不可被 LLM 覆盖的安全底座 · hospital_production_v4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39,679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药物相互作用规则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0515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5740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重复成分用药规则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0515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特殊人群规则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10515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过敏交叉规则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69480" y="10515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D7B9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6948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场景优先级规则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知识来源构成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4114800" cy="109728"/>
          </a:xfrm>
          <a:prstGeom prst="roundRect">
            <a:avLst>
              <a:gd name="adj" fmla="val 25000"/>
            </a:avLst>
          </a:prstGeom>
          <a:solidFill>
            <a:srgbClr val="D4E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770632"/>
            <a:ext cx="4011930" cy="109728"/>
          </a:xfrm>
          <a:prstGeom prst="roundRect">
            <a:avLst>
              <a:gd name="adj" fmla="val 25000"/>
            </a:avLst>
          </a:prstGeom>
          <a:solidFill>
            <a:srgbClr val="0E817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TWOSIDES 真实世界信号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38,702 条 (97.5%)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4114800" cy="109728"/>
          </a:xfrm>
          <a:prstGeom prst="roundRect">
            <a:avLst>
              <a:gd name="adj" fmla="val 25000"/>
            </a:avLst>
          </a:prstGeom>
          <a:solidFill>
            <a:srgbClr val="D4E6F1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227832"/>
            <a:ext cx="73152" cy="109728"/>
          </a:xfrm>
          <a:prstGeom prst="roundRect">
            <a:avLst>
              <a:gd name="adj" fmla="val 37500"/>
            </a:avLst>
          </a:prstGeom>
          <a:solidFill>
            <a:srgbClr val="0D4F8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临床策划规则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602 条 (1.5%)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85032"/>
            <a:ext cx="4114800" cy="109728"/>
          </a:xfrm>
          <a:prstGeom prst="roundRect">
            <a:avLst>
              <a:gd name="adj" fmla="val 25000"/>
            </a:avLst>
          </a:prstGeom>
          <a:solidFill>
            <a:srgbClr val="D4E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685032"/>
            <a:ext cx="73152" cy="109728"/>
          </a:xfrm>
          <a:prstGeom prst="roundRect">
            <a:avLst>
              <a:gd name="adj" fmla="val 37500"/>
            </a:avLst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知识挖掘 (MIMIC-III)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375 条 (0.9%)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42232"/>
            <a:ext cx="4114800" cy="109728"/>
          </a:xfrm>
          <a:prstGeom prst="roundRect">
            <a:avLst>
              <a:gd name="adj" fmla="val 25000"/>
            </a:avLst>
          </a:prstGeom>
          <a:solidFill>
            <a:srgbClr val="D4E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142232"/>
            <a:ext cx="914400" cy="109728"/>
          </a:xfrm>
          <a:prstGeom prst="roundRect">
            <a:avLst>
              <a:gd name="adj" fmla="val 25000"/>
            </a:avLst>
          </a:prstGeom>
          <a:solidFill>
            <a:srgbClr val="5D7B93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人工审核确认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 (&lt;0.1%)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219456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7FBFD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12064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2651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药物别名归一化 (494 别名映射)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2926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成对 DDI 检查 (双向查询)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12080" y="3200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重复成分用药检测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2080" y="3474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年龄/肾功能/妊娠人群禁忌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3749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过敏交叉反应扫描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40233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场景优先级覆盖 (如紧急手术)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0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全部规则 &lt; 50ms 完成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多源知识融合体系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结构化规则 + 知识图谱 + 真实世界信号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502920"/>
          </a:xfrm>
          <a:prstGeom prst="rect">
            <a:avLst>
              <a:gd name="adj" fmla="val 14545"/>
            </a:avLst>
          </a:prstGeom>
          <a:solidFill>
            <a:srgbClr val="0D4F8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71600"/>
            <a:ext cx="2697480" cy="1828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结构化知识库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hospital_production_v4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39,679 DDI 规则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449 重复成分规则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103 特殊人群规则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21 过敏交叉规则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494 药物别名映射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05156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51560"/>
            <a:ext cx="2697480" cy="502920"/>
          </a:xfrm>
          <a:prstGeom prst="rect">
            <a:avLst>
              <a:gd name="adj" fmla="val 14545"/>
            </a:avLst>
          </a:prstGeom>
          <a:solidFill>
            <a:srgbClr val="0E817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6120" y="1371600"/>
            <a:ext cx="2697480" cy="182880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药物知识图谱 v2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drug_kg_v2.json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772 节点 (药物/靶点/通路)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40,481 条边关系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支持 GraphRAG 多跳推理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药物→靶点→疾病→禁忌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794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ATC 分类体系集成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5156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51560"/>
            <a:ext cx="2697480" cy="502920"/>
          </a:xfrm>
          <a:prstGeom prst="rect">
            <a:avLst>
              <a:gd name="adj" fmla="val 14545"/>
            </a:avLst>
          </a:prstGeom>
          <a:solidFill>
            <a:srgbClr val="D4A843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1371600"/>
            <a:ext cx="2697480" cy="182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TWOSIDES 真实世界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42.9M 条原始报告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4.58M 通过质量过滤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39,280 条显著信号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PRR ≥ 2.0 + 计数 ≥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578 对升级确认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794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覆盖 228 个药物对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228600"/>
          </a:xfrm>
          <a:prstGeom prst="roundRect">
            <a:avLst>
              <a:gd name="adj" fmla="val 16000"/>
            </a:avLst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三源融合 → 规则引擎硬拦截 + 图谱辅助推理 + 真实世界信号补充覆盖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多智能体协作辩论机制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MDAgents + ClinicalPilot 双模式 · 7 专科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640080"/>
          </a:xfrm>
          <a:prstGeom prst="ellipse">
            <a:avLst/>
          </a:prstGeom>
          <a:solidFill>
            <a:srgbClr val="0D4F8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药剂师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 / 剂量审查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783080" y="1097280"/>
            <a:ext cx="640080" cy="640080"/>
          </a:xfrm>
          <a:prstGeom prst="ellipse">
            <a:avLst/>
          </a:prstGeom>
          <a:solidFill>
            <a:srgbClr val="0E8174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临床药师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人群禁忌 / 过敏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17520" y="1097280"/>
            <a:ext cx="640080" cy="640080"/>
          </a:xfrm>
          <a:prstGeom prst="ellipse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内科医师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适应症 / 方案评估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51960" y="1097280"/>
            <a:ext cx="640080" cy="64008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519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专科医师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科室特定约束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0" y="1097280"/>
            <a:ext cx="640080" cy="6400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过敏专家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交叉过敏检测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720840" y="1097280"/>
            <a:ext cx="640080" cy="640080"/>
          </a:xfrm>
          <a:prstGeom prst="ellipse">
            <a:avLst/>
          </a:prstGeom>
          <a:solidFill>
            <a:srgbClr val="E67E22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208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药房库存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药品可及性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955280" y="1097280"/>
            <a:ext cx="640080" cy="64008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9552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协调Agent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26680" y="1993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辩论管理 / 汇总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24231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MDAgents Debate 模式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多 Agent 多轮辩论 (max 3 轮)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154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Moderator 控制收敛方向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3429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Critic Agent 提出反对意见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3703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SafetyPanel 安全底线检查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977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共识阈值: agreement ≥ 0.7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分歧自动提交主任仲裁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4231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9204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ClinicalPilot 模式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单 Agent 深度推理链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0" y="3154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Structured CoT 输出格式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37760" y="3429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Evidence-Based 逐条引证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3703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适合低复杂度处方审查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3977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响应延迟 &lt; 3s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可选降级为 Rule-Only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CPOE 医嘱录入审查流水线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POST /api/v1/multi-consult · 完整请求生命周期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D7B9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43000"/>
            <a:ext cx="274320" cy="274320"/>
          </a:xfrm>
          <a:prstGeom prst="ellipse">
            <a:avLst/>
          </a:prstGeom>
          <a:solidFill>
            <a:srgbClr val="5D7B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医嘱录入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CPOE / FHIR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81328" y="109728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92808" y="1143000"/>
            <a:ext cx="274320" cy="274320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14" name="Text 12"/>
          <p:cNvSpPr/>
          <p:nvPr/>
        </p:nvSpPr>
        <p:spPr>
          <a:xfrm>
            <a:off x="1892808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27048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参数校验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27048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V2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32888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8336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45536" y="114300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45536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34056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34056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DDI/人群/过敏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50ms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31336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86784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43984" y="1143000"/>
            <a:ext cx="274320" cy="274320"/>
          </a:xfrm>
          <a:prstGeom prst="ellipse">
            <a:avLst/>
          </a:prstGeom>
          <a:solidFill>
            <a:srgbClr val="0E8174"/>
          </a:solidFill>
          <a:ln/>
        </p:spPr>
      </p:sp>
      <p:sp>
        <p:nvSpPr>
          <p:cNvPr id="26" name="Text 24"/>
          <p:cNvSpPr/>
          <p:nvPr/>
        </p:nvSpPr>
        <p:spPr>
          <a:xfrm>
            <a:off x="4443984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32504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智能体辩论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32504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MDAgents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Multi-Round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9784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85232" y="109728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96712" y="1143000"/>
            <a:ext cx="274320" cy="2743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2" name="Text 30"/>
          <p:cNvSpPr/>
          <p:nvPr/>
        </p:nvSpPr>
        <p:spPr>
          <a:xfrm>
            <a:off x="5696712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30952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主任仲裁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30952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Chief Review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分歧收敛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36792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92240" y="109728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11430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药师审核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Guard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4380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699248" y="109728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10728" y="114300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8110728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44968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签发报告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44968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JSON/FHIR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256032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F7FBFD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分支决策逻辑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规则引擎发现硬拦截 → 直接返回 CONTRAINDICATED，不进入辩论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33649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所有 Agent 共识 ≥ 0.7 → 自动签发，跳过仲裁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" y="36667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Agent 分歧 &gt; 0.3 → 提交 Chief Reviewer 仲裁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" y="39684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关键信息缺失 → ClarifyEngine 生成澄清问题列表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42702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药师覆盖决定 → OverrideAuditLog 记录原因，全程可追溯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科室专科化引擎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26 科室覆盖 · 处方集 · 专科路由 · 安全约束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科室覆盖矩阵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心内科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5448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内分泌科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192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消化科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肾内科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神经内科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146304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肿瘤科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5448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感染科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风湿科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3192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ICU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2064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急诊科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196596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神经外科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泌尿外科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55448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耳鼻喉科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93192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皮肤科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2064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妇产科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0936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儿科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246888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老年科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297180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971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麻醉科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554480" y="297180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54480" y="2971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康复科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0" y="297180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2971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放射科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931920" y="297180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0" y="2971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全科内科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20640" y="2971800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2971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精神科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937760" y="1051560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1206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科室模块架构 (src/department/)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1208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formulary.py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83680" y="15544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科室处方集 · 首选/替代/禁忌药物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0" y="1719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科室特定用药目录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2120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priority.py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1965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科室优先级规则 · 紧急场景覆盖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83680" y="21305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如手术消炎优先级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21208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context.py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23774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科室上下文注入 · Agent 提示词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83680" y="2542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差异化安全约束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2120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stats.py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83680" y="2788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科室审查统计 · 拦截率分析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83680" y="295351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质量监控指标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4864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专科 Agent 路由 (src/agents/specialist_router.py)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请求进入 → 识别科室 → 加载科室上下文 → 注入 Agent 提示词 → 处方集过滤 → 专科安全约束 → 进入辩论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40080" y="4251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 Agent 模块 · 1,906 行代码 · 包含 extract / chief_reviewer / department_specialist 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FHIR R4 互操作性适配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fhir.resources 8.2.0 · Pydantic V2 · 双向 Bundle 转换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88720"/>
            <a:ext cx="365760" cy="365760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612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</a:rPr>
              <a:t>FhirAdapter 核心架构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src/fhir/adapter.py (470 行)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MedicationRequest → 内部处方模型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Patient → 人群特征提取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Bundle → 批量请求编排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双向转换 · 无损映射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模块组成 (6 文件 · 1,058 行)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0" y="15087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470L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核心转换引擎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17282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09360" y="172821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17282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FHIR 数据模型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19476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09360" y="1947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19476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RESTful 端点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21671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09360" y="21671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216712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编码系统映射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0" y="23865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capability.py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23865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23865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CapabilityStatement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26060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26060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FHIR 约束校验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0632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7FBFD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FHIR API 端点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352044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520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80160" y="3520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/fhir/MedicationRequest/$review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3520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单条医嘱 FHIR 格式审查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84048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840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80160" y="3840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/fhir/Bundle/$review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3840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 批量审查 + 事务编排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416052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2980B9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280160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/metadata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4160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CapabilityStatement 服务发现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药师工作台 · 全链路审计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src/pharmacy/ · 8 文件 · 1,164 行 · 角色权限守护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角色权限体系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544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0D4F8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临床药师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+ 覆盖 + 签发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14884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0E817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48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药房主管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313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审批覆盖 + 库存管理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4320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质控审计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9077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全局查询 + 报表导出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审计链 (OverrideAuditLog)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系统生成审查建议 (severity 分级)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药师确认或覆盖 (override_reason 必填)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覆盖原因记录 OverrideAuditLog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质控审计角色可追溯查询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统计报表: 拦截率 / 覆盖率 / 响应时间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7FBFD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模块文件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models.py (126L) — PharmacistReview / AlertDecision / OverrideAuditLog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routes.py (212L) — 7 个 API 端点 + 角色守卫装饰器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0080" y="429768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review_store.py — 审查状态存储引擎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override_audit.py — 覆盖决策审计日志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queue.py — 审查队列优先级排序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6320" y="41148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stats.py — 药师绩效 &amp; 拦截统计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46320" y="429768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db.py — SQLite 持久化层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医学影像处理流水线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src/imaging/ · 2,601 行 · VLM 分析 + DeepSeek 报告合成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00200" cy="16459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5D7B9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600200" cy="640080"/>
          </a:xfrm>
          <a:prstGeom prst="rect">
            <a:avLst>
              <a:gd name="adj" fmla="val 8571"/>
            </a:avLst>
          </a:prstGeom>
          <a:solidFill>
            <a:srgbClr val="5D7B93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554480"/>
            <a:ext cx="1600200" cy="182880"/>
          </a:xfrm>
          <a:prstGeom prst="rect">
            <a:avLst/>
          </a:prstGeom>
          <a:solidFill>
            <a:srgbClr val="5D7B9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DICOM/PNG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医学影像格式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B93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57400" y="1097280"/>
            <a:ext cx="1600200" cy="16459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097280"/>
            <a:ext cx="1600200" cy="640080"/>
          </a:xfrm>
          <a:prstGeom prst="rect">
            <a:avLst>
              <a:gd name="adj" fmla="val 8571"/>
            </a:avLst>
          </a:prstGeom>
          <a:solidFill>
            <a:srgbClr val="0D4F8B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1554480"/>
            <a:ext cx="1600200" cy="1828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尺寸/色彩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B9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1097280"/>
            <a:ext cx="1600200" cy="16459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097280"/>
            <a:ext cx="1600200" cy="640080"/>
          </a:xfrm>
          <a:prstGeom prst="rect">
            <a:avLst>
              <a:gd name="adj" fmla="val 8571"/>
            </a:avLst>
          </a:prstGeom>
          <a:solidFill>
            <a:srgbClr val="0E8174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554480"/>
            <a:ext cx="1600200" cy="182880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视觉分析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多模态模型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区域识别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B93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23560" y="1097280"/>
            <a:ext cx="1600200" cy="16459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1097280"/>
            <a:ext cx="1600200" cy="640080"/>
          </a:xfrm>
          <a:prstGeom prst="rect">
            <a:avLst>
              <a:gd name="adj" fmla="val 8571"/>
            </a:avLst>
          </a:prstGeom>
          <a:solidFill>
            <a:srgbClr val="8E44AD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1554480"/>
            <a:ext cx="1600200" cy="1828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报告合成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结构化报告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B93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06640" y="1097280"/>
            <a:ext cx="1600200" cy="16459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06640" y="1097280"/>
            <a:ext cx="1600200" cy="640080"/>
          </a:xfrm>
          <a:prstGeom prst="rect">
            <a:avLst>
              <a:gd name="adj" fmla="val 8571"/>
            </a:avLst>
          </a:prstGeom>
          <a:solidFill>
            <a:srgbClr val="27AE60"/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0" y="1554480"/>
            <a:ext cx="160020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审查报告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关联用药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安全建议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0E8174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3127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174"/>
                </a:solidFill>
              </a:rPr>
              <a:t>VLM 分析能力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胸部 X 光: 肺炎/积液/结节检测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CT 扫描: 多层面区域标注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结构化输出: JSON 病灶描述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与用药审查联动: 影像发现→用药建议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3127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报告合成引擎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DeepSeek 大模型驱动报告生成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标准医学术语规范化输出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多模态融合: 影像 + 处方 + 检验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● 支持 PDF / FHIR DiagnosticReport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Benchmark 验证体系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309 测试用例 · 26 科室全覆盖 · 核心指标 100%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4F8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E8174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覆盖科室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27AE6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规则命中率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0372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严重级别准确率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科室分布 (Top 10)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114800" cy="22860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744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697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26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心内科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77440" y="2926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2926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内分泌科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77440" y="3108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91840" y="31089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291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呼吸科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3291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3291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74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消化科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77440" y="3474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3474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657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肾内科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77440" y="3657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91840" y="3657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84048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840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神经内科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377440" y="3840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91840" y="3840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02336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77440" y="4023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9184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420624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急诊科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77440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91840" y="4206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38912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感染科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377440" y="4389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91840" y="4389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457200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骨科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377440" y="4572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91840" y="4572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46320" y="2331720"/>
            <a:ext cx="3931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120640" y="2834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规则命中率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8368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已知风险被正确拦截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955280" y="2834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31363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严重级别准确率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83680" y="3136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severity 分级正确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955280" y="3136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2064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科室覆盖率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83680" y="3438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26/26 科室有用例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955280" y="34381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120640" y="37398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人群规则触发率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83680" y="3739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特殊人群禁忌检测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955280" y="37398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120640" y="40416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过敏交叉检出率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8368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过敏原交叉反应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7955280" y="40416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120640" y="4343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场景规则触发率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583680" y="4343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紧急场景优先级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795528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4" name="Text 82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技术亮点 &amp; 系统规模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F5FB"/>
                </a:solidFill>
              </a:rPr>
              <a:t>10 个阶段迭代 · 24,407 行后端代码 · 生产级架构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24,407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后端代码行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10515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0372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迭代阶段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核心模块规模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knowledge_mining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2404872"/>
            <a:ext cx="3200400" cy="146304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3774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3,192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6151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20240" y="2642616"/>
            <a:ext cx="2607845" cy="146304"/>
          </a:xfrm>
          <a:prstGeom prst="roundRect">
            <a:avLst>
              <a:gd name="adj" fmla="val 18750"/>
            </a:avLst>
          </a:prstGeom>
          <a:solidFill>
            <a:srgbClr val="8E44AD"/>
          </a:solidFill>
          <a:ln/>
        </p:spPr>
      </p:sp>
      <p:sp>
        <p:nvSpPr>
          <p:cNvPr id="24" name="Text 22"/>
          <p:cNvSpPr/>
          <p:nvPr/>
        </p:nvSpPr>
        <p:spPr>
          <a:xfrm>
            <a:off x="4619525" y="26151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2,601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852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2880360"/>
            <a:ext cx="1911016" cy="146304"/>
          </a:xfrm>
          <a:prstGeom prst="roundRect">
            <a:avLst>
              <a:gd name="adj" fmla="val 18750"/>
            </a:avLst>
          </a:prstGeom>
          <a:solidFill>
            <a:srgbClr val="0D4F8B"/>
          </a:solidFill>
          <a:ln/>
        </p:spPr>
      </p:sp>
      <p:sp>
        <p:nvSpPr>
          <p:cNvPr id="27" name="Text 25"/>
          <p:cNvSpPr/>
          <p:nvPr/>
        </p:nvSpPr>
        <p:spPr>
          <a:xfrm>
            <a:off x="3922696" y="28529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1,906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3090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(API层)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920240" y="3118104"/>
            <a:ext cx="1544053" cy="146304"/>
          </a:xfrm>
          <a:prstGeom prst="roundRect">
            <a:avLst>
              <a:gd name="adj" fmla="val 18750"/>
            </a:avLst>
          </a:prstGeom>
          <a:solidFill>
            <a:srgbClr val="0E8174"/>
          </a:solidFill>
          <a:ln/>
        </p:spPr>
      </p:sp>
      <p:sp>
        <p:nvSpPr>
          <p:cNvPr id="30" name="Text 28"/>
          <p:cNvSpPr/>
          <p:nvPr/>
        </p:nvSpPr>
        <p:spPr>
          <a:xfrm>
            <a:off x="3555733" y="30906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1,540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33284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drug_catalog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920240" y="3355848"/>
            <a:ext cx="1395663" cy="146304"/>
          </a:xfrm>
          <a:prstGeom prst="roundRect">
            <a:avLst>
              <a:gd name="adj" fmla="val 18750"/>
            </a:avLst>
          </a:prstGeom>
          <a:solidFill>
            <a:srgbClr val="0E8174"/>
          </a:solidFill>
          <a:ln/>
        </p:spPr>
      </p:sp>
      <p:sp>
        <p:nvSpPr>
          <p:cNvPr id="33" name="Text 31"/>
          <p:cNvSpPr/>
          <p:nvPr/>
        </p:nvSpPr>
        <p:spPr>
          <a:xfrm>
            <a:off x="3407343" y="3328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1,392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920240" y="3593592"/>
            <a:ext cx="1206166" cy="146304"/>
          </a:xfrm>
          <a:prstGeom prst="roundRect">
            <a:avLst>
              <a:gd name="adj" fmla="val 18750"/>
            </a:avLst>
          </a:prstGeom>
          <a:solidFill>
            <a:srgbClr val="0E8174"/>
          </a:solidFill>
          <a:ln/>
        </p:spPr>
      </p:sp>
      <p:sp>
        <p:nvSpPr>
          <p:cNvPr id="36" name="Text 34"/>
          <p:cNvSpPr/>
          <p:nvPr/>
        </p:nvSpPr>
        <p:spPr>
          <a:xfrm>
            <a:off x="3217846" y="3566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1,203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38039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pharmacy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920240" y="3831336"/>
            <a:ext cx="1167063" cy="146304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3178743" y="38039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1,164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fhir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920240" y="4069080"/>
            <a:ext cx="1060784" cy="146304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3072464" y="40416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1,058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" y="4279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graph_rag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920240" y="4306824"/>
            <a:ext cx="909387" cy="146304"/>
          </a:xfrm>
          <a:prstGeom prst="roundRect">
            <a:avLst>
              <a:gd name="adj" fmla="val 18750"/>
            </a:avLst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2921067" y="427939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45171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920240" y="4544568"/>
            <a:ext cx="865271" cy="146304"/>
          </a:xfrm>
          <a:prstGeom prst="roundRect">
            <a:avLst>
              <a:gd name="adj" fmla="val 18750"/>
            </a:avLst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2876951" y="45171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863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30352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8640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577840" y="24871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确定性优先：规则 &gt; LLM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77840" y="27432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全链路审计：每步可追溯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77840" y="299923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FHIR 互操作：标准对接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77840" y="32552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人在回路：药师最终签发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77840" y="351129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数据驱动：真实世界信号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77840" y="37673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验证闭环：309 用例基准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77840" y="402336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 科室专业：差异化审查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577840" y="42793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性能保障：规则 &lt; 50ms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MedSafe 后端算法架构</dc:title>
  <dc:subject>智能用药安全审查系统技术介绍</dc:subject>
  <dc:creator>MedSafe Team</dc:creator>
  <cp:lastModifiedBy>MedSafe Team</cp:lastModifiedBy>
  <cp:revision>1</cp:revision>
  <dcterms:created xsi:type="dcterms:W3CDTF">2026-06-23T10:23:31Z</dcterms:created>
  <dcterms:modified xsi:type="dcterms:W3CDTF">2026-06-23T10:23:31Z</dcterms:modified>
</cp:coreProperties>
</file>