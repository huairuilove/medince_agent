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MedSafe 后端算法架构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2FF"/>
                </a:solidFill>
              </a:defRPr>
            </a:pPr>
            <a:r>
              <a:t>多模型协作 · 影像处理 · 端到端流程全景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基于 FastAPI 的多智能体药物安全审查系统  |  MIMIC-III 临床场景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系统整体架构总览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三大核心模块 + 两条处理流水线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文本药物审查流水线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LLM多智能体协作 + 规则引擎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463040"/>
            <a:ext cx="3474720" cy="9144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E696"/>
                </a:solidFill>
              </a:defRPr>
            </a:pPr>
            <a:r>
              <a:t>影像分析流水线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VLM视觉模型 + 分割模型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474720" cy="9144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7B2FFF"/>
                </a:solidFill>
              </a:defRPr>
            </a:pPr>
            <a:r>
              <a:t>实时CPOE &amp; 聊天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处方实时审查 + ReAct对话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提取 (Extract)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27832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规则引擎 (Rule Gate)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03904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5个专家Agent并行审查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79976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多轮对抗辩论 (Debate)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56048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首席审查仲裁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3212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协调员澄清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65176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影像目录发现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227832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多模型分割 (6个后端)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803904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VLM影像分析 (Qwen3-VL)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379976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DeepSeek报告合成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956048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融合多Agent药物审查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65176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药物目录解析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227832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DDI-BERT相互作用检测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803904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ReAct状态机 + 工具调用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79976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Graph RAG知识检索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956048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SSE流式输出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88"/>
                </a:solidFill>
              </a:defRPr>
            </a:pPr>
            <a:r>
              <a:t>所有流程通过 FastAPI REST API 暴露，支持 SSE 流式、JSON持久化、部门权限隔离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四层模型体系 &amp; 协作关系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每一层模型各司其职，通过 Orchestrator 统一调度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Layer 1: 主LLM — DeepSeek-Chat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所有专家Agent的推理引擎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包括：临床药师、内科、过敏专科、药房库存、专科路由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首席审查仲裁、辩论评论家、协调员澄清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统一通过 OpenAI 兼容 API 调用，输出结构化 JSON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389120" y="1828800"/>
            <a:ext cx="457200" cy="27432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697480"/>
            <a:ext cx="347472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Layer 2: 视觉模型 — Qwen3-VL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百炼 Model Studio API 调用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最多分析12张医学影像 (X-ray/CT/MRI)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支持分割标注叠加图像输入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输出：临床表现、影像发现、药物推荐、诊断等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389120" y="3063240"/>
            <a:ext cx="457200" cy="274320"/>
          </a:xfrm>
          <a:prstGeom prst="rightArrow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47472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Layer 3: 合成模型 — DeepSeek-Chat (专用实例)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融合 VLM 分析结果 + 多Agent药物审查意见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生成7节结构化临床报告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临床分析 / 影像发现 / 用药建议 / 药学评估 / 过敏分析 / 麻醉手术 / 风险总结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89120" y="4297680"/>
            <a:ext cx="457200" cy="274320"/>
          </a:xfrm>
          <a:prstGeom prst="rightArrow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5166360"/>
            <a:ext cx="347472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6B6B"/>
                </a:solidFill>
              </a:defRPr>
            </a:pPr>
            <a:r>
              <a:t>Layer 4: 传统ML模型 (本地推理)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Med7 NER: spaCy药物实体抽取 (名称/途径/剂量)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DDI-BERT: Bio_ClinicalBERT 药物相互作用分类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嵌入模型: nomic-embed-text → 语义药物搜索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分割模型: TotalSegmentator / VISTA3D / SAM / BraTS / CXR-Lesion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88"/>
                </a:solidFill>
              </a:defRPr>
            </a:pPr>
            <a:r>
              <a:t>Orchestrator 通过 ThreadPoolExecutor 并行调度各Agent，确保独立审查互不干扰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多智能体协作机制 — MDAgents + ClinicalPilot 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五大专家并行审查 → 多轮辩论 → 首席仲裁 → 澄清确认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887" y="1371600"/>
            <a:ext cx="2011680" cy="128016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临床药师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药物相互作用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剂量合理性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治疗方案评估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95447" y="1371600"/>
            <a:ext cx="2011680" cy="128016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内科医师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病情整体判断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合并症分析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治疗优先级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90007" y="1371600"/>
            <a:ext cx="2011680" cy="128016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过敏专科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过敏禁忌筛查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交叉过敏分析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替代药物建议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4567" y="1371600"/>
            <a:ext cx="2011680" cy="128016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6B6B"/>
                </a:solidFill>
              </a:defRPr>
            </a:pPr>
            <a:r>
              <a:t>药房库存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处方药物可用性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医保替换建议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成本效益分析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79127" y="1371600"/>
            <a:ext cx="2011680" cy="128016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专科路由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科室特殊规则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老年/孕产用药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罕见病专科意见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93D"/>
                </a:solidFill>
              </a:defRPr>
            </a:pPr>
            <a:r>
              <a:t>辩论流程 (最高3轮)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887" y="3383280"/>
            <a:ext cx="201168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D2FF"/>
                </a:solidFill>
              </a:defRPr>
            </a:pPr>
            <a:r>
              <a:t>Round 1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所有Agent独立审查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ThreadPool并行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95447" y="3383280"/>
            <a:ext cx="201168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D2FF"/>
                </a:solidFill>
              </a:defRPr>
            </a:pPr>
            <a:r>
              <a:t>Critic分析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识别分歧点/证据缺口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安全遗漏/低置信度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0007" y="3383280"/>
            <a:ext cx="201168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D2FF"/>
                </a:solidFill>
              </a:defRPr>
            </a:pPr>
            <a:r>
              <a:t>Round 2-N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Agent收到Critic反馈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针对性修订意见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3383280"/>
            <a:ext cx="201168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E696"/>
                </a:solidFill>
              </a:defRPr>
            </a:pPr>
            <a:r>
              <a:t>停止条件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达成共识 &amp;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置信度 ≥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79127" y="3383280"/>
            <a:ext cx="2011680" cy="109728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6B6B"/>
                </a:solidFill>
              </a:defRPr>
            </a:pPr>
            <a:r>
              <a:t>未达成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标记人工审核</a:t>
            </a:r>
          </a:p>
          <a:p>
            <a:pPr algn="ctr">
              <a:defRPr sz="1100">
                <a:solidFill>
                  <a:srgbClr val="AAAACC"/>
                </a:solidFill>
              </a:defRPr>
            </a:pPr>
            <a:r>
              <a:t>安全兜底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666847" y="3840480"/>
            <a:ext cx="22860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4861407" y="3840480"/>
            <a:ext cx="22860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055967" y="3840480"/>
            <a:ext cx="22860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9250527" y="3840480"/>
            <a:ext cx="22860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93D"/>
                </a:solidFill>
              </a:defRPr>
            </a:pPr>
            <a:r>
              <a:t>仲裁与澄清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0887" y="5120640"/>
            <a:ext cx="3474720" cy="11887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D2FF"/>
                </a:solidFill>
              </a:defRPr>
            </a:pPr>
            <a:r>
              <a:t>Moderator 合成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汇总所有轮次意见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生成结构化辩论总结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07127" y="5120640"/>
            <a:ext cx="3474720" cy="11887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E696"/>
                </a:solidFill>
              </a:defRPr>
            </a:pPr>
            <a:r>
              <a:t>Chief Reviewer 仲裁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规则优先+LLM意见融合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rule_strict=true时规则不可覆盖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安全面板建议也可强制阻断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13367" y="5120640"/>
            <a:ext cx="3474720" cy="11887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B2FFF"/>
                </a:solidFill>
              </a:defRPr>
            </a:pPr>
            <a:r>
              <a:t>Coordinator 澄清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生成针对性追问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补充缺失信息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兜底确定性澄清引擎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确定性规则引擎 — 不可被LLM覆盖的安全底座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六维审查 + 规则优先机制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药物相互作用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知识库规则匹配 (drug_pair → risk)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DDI-BERT 模型分类 (Bio_ClinicalBERT)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严重程度分级 → 阻断/警示/安全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重复成分检测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相同活性成分多药识别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成分-商品名映射表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防止重复给药过量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特殊人群规则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孕期/哺乳期禁忌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儿童/老年人剂量调整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肝肾功能不全药物调整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FDA妊娠分级 D/X 级阻断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6B6B"/>
                </a:solidFill>
              </a:defRPr>
            </a:pPr>
            <a:r>
              <a:t>过敏禁忌筛查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药物-过敏原交叉匹配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同类药物交叉过敏推断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过敏严重程度分层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33756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D93D"/>
                </a:solidFill>
              </a:defRPr>
            </a:pPr>
            <a:r>
              <a:t>临床场景审查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多重用药检测 (&gt;5种→标黄, &gt;10种→标红)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跌倒风险评估 (Beers标准)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抗胆碱能负担计算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33756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科室优先级规则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科室特定禁忌/警示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紧急手术消炎优先级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慢病长期用药管理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03520"/>
            <a:ext cx="10972800" cy="1097280"/>
          </a:xfrm>
          <a:prstGeom prst="roundRect">
            <a:avLst/>
          </a:prstGeom>
          <a:solidFill>
            <a:srgbClr val="352040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🔒 规则优先机制 (rule_strict=true)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规则引擎输出作为“硬证据”，LLM Agent 不可覆盖                        • DDI-BERT 确认高风险 → 强制阻断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安全面板 (SafetyPanel) 独立运行，与辩论并行 → 最终仲裁时优先采纳            • 过敏专科/临床药师阻断 → 全局阻断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影像处理流水线 (上) — 从数据源到VLM分析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数据源发现 → 分割标注 → VLM视觉分析 → 报告合成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① 数据源发现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ImagingCatalog 扫描5大数据源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MIMIC-CXR (胸片) / MIMIC-CT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BraTS2024 (脑肿瘤MRI)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KiTS19 (肾脏CT)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MONAI-COPD (胸部CT)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→ 生成轴向预览PNG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2801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7B2FFF"/>
                </a:solidFill>
              </a:defRPr>
            </a:pPr>
            <a:r>
              <a:t>② 分割模型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SerialSegmentService 串行调度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6个后端按需加载/释放GPU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CXR-Lesion (肺炎病灶)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BraTS-Tumor (脑肿瘤)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TotalSegmentator (多器官)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VISTA3D / SAM-Med3D / SAM2D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→ 每次只一个模型驻留显存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947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③ 权限控制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ImagingScope 部门级授权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每个科室配置可访问的影像源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filter_models() / filter_studies()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path_allowed_for_sources()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→ 用户只能看到/分割授权数据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7947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E696"/>
                </a:solidFill>
              </a:defRPr>
            </a:pPr>
            <a:r>
              <a:t>④ VLM分析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OpenAIVisionClient → Qwen3-VL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base64编码图片(最多12张)+临床摘要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支持分割标注覆盖图像输入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多模态提示 → JSON结构化输出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临床表现/影像发现/药物推荐/诊断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过敏/症状/主诉/麻醉/风险等级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26480" y="2286000"/>
            <a:ext cx="27432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126480" y="4663440"/>
            <a:ext cx="27432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影像处理流水线 (下) — VLM分析 &amp; DeepSeek报告合成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0E696"/>
                </a:solidFill>
              </a:defRPr>
            </a:pPr>
            <a:r>
              <a:t>Qwen3-VL 视觉语言模型分析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输入构造：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1. 图片 base64 编码 → data:image/png;base64,...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2. 构建多模态 messages: [system + user(content=[text, image_urls...])]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3. System prompt 包含：患者摘要、影像模态、分析任务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API 调用：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POST 百炼 Model Studio (OpenAI兼容)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model: qwen3-vl-plus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max_tokens: 16000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结构化 JSON 输出字段：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clinical_analysis     — 临床综合分析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imaging_findings       — 影像学发现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medication_recommendation — 用药建议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recommended_drugs      — 推荐药物列表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allergies / diagnoses / symptoms — 过敏/诊断/症状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chief_complaint / anesthesia_surgery — 主诉/麻醉手术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reasoning / risk_level — 推理过程/风险等级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7B2FFF"/>
                </a:solidFill>
              </a:defRPr>
            </a:pPr>
            <a:r>
              <a:t>DeepSeek 融合报告合成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输入融合：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1. Qwen3-VL 视觉分析结果 (JSON)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2. 5个专家Agent审查意见 (JSON)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3. 首席审查仲裁结论 (JSON)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4. 规则引擎审查输出 (JSON)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合成策略：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model: deepseek-chat (专用独立实例)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system prompt 设定为'资深临床审查专家'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要求逐项对比、交叉验证、去重合并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输出 ClinicalReport (7节)：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① clinical_analysis      — 综合分析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② imaging_findings        — 影像发现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③ medication_recommendation — 用药建议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④ pharmacy_assessment     — 药学评估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⑤ allergy_analysis       — 过敏分析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⑥ anesthesia_surgery     — 麻醉手术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⑦ risk_summary + chain_of_thought — 风险总结+推理链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完整请求生命周期 — POST /api/v1/multi-consult</a:t>
            </a:r>
          </a:p>
        </p:txBody>
      </p:sp>
      <p:sp>
        <p:nvSpPr>
          <p:cNvPr id="3" name="Chevron 2"/>
          <p:cNvSpPr/>
          <p:nvPr/>
        </p:nvSpPr>
        <p:spPr>
          <a:xfrm>
            <a:off x="335127" y="1371600"/>
            <a:ext cx="1051560" cy="640080"/>
          </a:xfrm>
          <a:prstGeom prst="chevron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1</a:t>
            </a:r>
            <a:br/>
            <a:r>
              <a:t>提取</a:t>
            </a:r>
          </a:p>
        </p:txBody>
      </p:sp>
      <p:sp>
        <p:nvSpPr>
          <p:cNvPr id="4" name="Chevron 3"/>
          <p:cNvSpPr/>
          <p:nvPr/>
        </p:nvSpPr>
        <p:spPr>
          <a:xfrm>
            <a:off x="1478127" y="1371600"/>
            <a:ext cx="1051560" cy="640080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2</a:t>
            </a:r>
            <a:br/>
            <a:r>
              <a:t>规则门</a:t>
            </a:r>
          </a:p>
        </p:txBody>
      </p:sp>
      <p:sp>
        <p:nvSpPr>
          <p:cNvPr id="5" name="Chevron 4"/>
          <p:cNvSpPr/>
          <p:nvPr/>
        </p:nvSpPr>
        <p:spPr>
          <a:xfrm>
            <a:off x="2621127" y="1371600"/>
            <a:ext cx="1051560" cy="640080"/>
          </a:xfrm>
          <a:prstGeom prst="chevron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3</a:t>
            </a:r>
            <a:br/>
            <a:r>
              <a:t>Agent选择</a:t>
            </a:r>
          </a:p>
        </p:txBody>
      </p:sp>
      <p:sp>
        <p:nvSpPr>
          <p:cNvPr id="6" name="Chevron 5"/>
          <p:cNvSpPr/>
          <p:nvPr/>
        </p:nvSpPr>
        <p:spPr>
          <a:xfrm>
            <a:off x="3764127" y="1371600"/>
            <a:ext cx="1051560" cy="640080"/>
          </a:xfrm>
          <a:prstGeom prst="chevron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4</a:t>
            </a:r>
            <a:br/>
            <a:r>
              <a:t>并行审查</a:t>
            </a:r>
          </a:p>
        </p:txBody>
      </p:sp>
      <p:sp>
        <p:nvSpPr>
          <p:cNvPr id="7" name="Chevron 6"/>
          <p:cNvSpPr/>
          <p:nvPr/>
        </p:nvSpPr>
        <p:spPr>
          <a:xfrm>
            <a:off x="4907127" y="1371600"/>
            <a:ext cx="1051560" cy="640080"/>
          </a:xfrm>
          <a:prstGeom prst="chevron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5</a:t>
            </a:r>
            <a:br/>
            <a:r>
              <a:t>多轮辩论</a:t>
            </a:r>
          </a:p>
        </p:txBody>
      </p:sp>
      <p:sp>
        <p:nvSpPr>
          <p:cNvPr id="8" name="Chevron 7"/>
          <p:cNvSpPr/>
          <p:nvPr/>
        </p:nvSpPr>
        <p:spPr>
          <a:xfrm>
            <a:off x="6050127" y="1371600"/>
            <a:ext cx="1051560" cy="640080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6</a:t>
            </a:r>
            <a:br/>
            <a:r>
              <a:t>安全面板</a:t>
            </a:r>
          </a:p>
        </p:txBody>
      </p:sp>
      <p:sp>
        <p:nvSpPr>
          <p:cNvPr id="9" name="Chevron 8"/>
          <p:cNvSpPr/>
          <p:nvPr/>
        </p:nvSpPr>
        <p:spPr>
          <a:xfrm>
            <a:off x="7193127" y="1371600"/>
            <a:ext cx="1051560" cy="640080"/>
          </a:xfrm>
          <a:prstGeom prst="chevron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7</a:t>
            </a:r>
            <a:br/>
            <a:r>
              <a:t>Moderator</a:t>
            </a:r>
          </a:p>
        </p:txBody>
      </p:sp>
      <p:sp>
        <p:nvSpPr>
          <p:cNvPr id="10" name="Chevron 9"/>
          <p:cNvSpPr/>
          <p:nvPr/>
        </p:nvSpPr>
        <p:spPr>
          <a:xfrm>
            <a:off x="8336127" y="1371600"/>
            <a:ext cx="1051560" cy="640080"/>
          </a:xfrm>
          <a:prstGeom prst="chevron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8</a:t>
            </a:r>
            <a:br/>
            <a:r>
              <a:t>首席仲裁</a:t>
            </a:r>
          </a:p>
        </p:txBody>
      </p:sp>
      <p:sp>
        <p:nvSpPr>
          <p:cNvPr id="11" name="Chevron 10"/>
          <p:cNvSpPr/>
          <p:nvPr/>
        </p:nvSpPr>
        <p:spPr>
          <a:xfrm>
            <a:off x="9479127" y="1371600"/>
            <a:ext cx="1051560" cy="640080"/>
          </a:xfrm>
          <a:prstGeom prst="chevron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9</a:t>
            </a:r>
            <a:br/>
            <a:r>
              <a:t>澄清</a:t>
            </a:r>
          </a:p>
        </p:txBody>
      </p:sp>
      <p:sp>
        <p:nvSpPr>
          <p:cNvPr id="12" name="Chevron 11"/>
          <p:cNvSpPr/>
          <p:nvPr/>
        </p:nvSpPr>
        <p:spPr>
          <a:xfrm>
            <a:off x="10622127" y="1371600"/>
            <a:ext cx="1051560" cy="640080"/>
          </a:xfrm>
          <a:prstGeom prst="chevron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10</a:t>
            </a:r>
            <a:br/>
            <a:r>
              <a:t>持久化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28600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步骤 1-2: 预处理阶段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ExtractAgent 调用主LLM解析临床文本 → ExtractionOutput (年龄/性别/症状/诊断/用药/过敏/孕期等)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ReviewEngine 确定性六维审查 → 规则输出 (风险等级/证据/阻断/澄清目标)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Med7 NER 辅助药物实体抽取 → 补充LLM提取结果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步骤 3-5: 多Agent协作阶段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Orchestrator._active_agents() → 必选4个Agent + 条件触发的SpecialistAgent/DepartmentSpecialist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ThreadPoolExecutor 并行调用所有Agent → 每个独立调用主LLM获得审查意见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CriticAgent 分析分歧/证据缺口/安全遗漏/低置信度 → Agent收到反馈后修订 (最多3轮)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步骤 6-8: 仲裁决断阶段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SafetyPanel 独立规则审计(与辩论并行) → 安全底线不可破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ModeratorAgent 合成所有轮次辩论 → 结构化总结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ChiefReviewer.arbitrate() → 规则优先 + LLM意见融合 → rule_strict时硬证据不可覆盖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D93D"/>
                </a:solidFill>
              </a:defRPr>
            </a:pPr>
            <a:r>
              <a:t>步骤 9-10: 收尾阶段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CoordinatorAgent → 如需澄清则生成追问 (缺失字段/模糊信息)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CaseStore → 完整CaseLog JSON持久化到 datasets/cases/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MultiConsultResponse → 所有中间结果一次性返回前端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数据流全景 — 输入到输出完整链路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文本药物审查数据流</a:t>
            </a:r>
          </a:p>
          <a:p>
            <a:pPr>
              <a:defRPr sz="1100">
                <a:solidFill>
                  <a:srgbClr val="AAAACC"/>
                </a:solidFill>
              </a:defRPr>
            </a:pP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INPUT: 临床文本 或 PatientContext + 候选药物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[ExtractAgent] LLM解析 → 结构化患者信息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+ Med7 NER辅助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[ReviewEngine] 确定性规则 → 6维审查输出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+ DDI-BERT分类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[Agent Panel] 5专家并行LLM审查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ClinicalPharmacistAgent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InternalMedicineAgent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AllergySpecialistAgent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PharmacyInventoryAgent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└─ SpecialistAgent (条件触发)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[Debate Engine] Critic ↔ Agents (≤3轮)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+ SafetyPanel并行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[Moderator → ChiefReviewer → Coordinator]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OUTPUT: MultiConsultResponse (含全部中间结果)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E696"/>
                </a:solidFill>
              </a:defRPr>
            </a:pPr>
            <a:r>
              <a:t>影像审查数据流 (独立触发)</a:t>
            </a:r>
          </a:p>
          <a:p>
            <a:pPr>
              <a:defRPr sz="1100">
                <a:solidFill>
                  <a:srgbClr val="AAAACC"/>
                </a:solidFill>
              </a:defRPr>
            </a:pP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INPUT: 影像选择 + 患者摘要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[ImagingCatalog] 数据源扫描 → 列出可用研究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ImagingScope权限过滤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[SegmentService] 串行加载分割模型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CXR-Lesion / BraTS-Tumor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TotalSegmentator / VISTA3D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└─ SAM-Med3D / SAM2D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分割标注叠加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[OpenAIVisionClient] Qwen3-VL 多模态分析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base64图片 + 临床摘要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VLM 结构化JSON输出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[DeepSeekSynthesis] 融合 VLM结果 + Agent审查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OUTPUT: ClinicalReport (7节结构化报告)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技术亮点 &amp; 设计原则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6B6B"/>
                </a:solidFill>
              </a:defRPr>
            </a:pPr>
            <a:r>
              <a:t>1. 安全优先的混合架构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确定性规则引擎 + LLM智能审查，规则作为不可覆盖的硬约束，rule_strict=true 时LLM无法推翻规则判定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2. 模型分层解耦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主LLM / 视觉LLM / 合成LLM / 传统ML 四层独立，每层独立配置、独立错误处理，可独立替换升级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3. 多Agent对抗式协作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MDAgents模式的多轮辩论 → Critic挑战 → 修订收敛 → 首席仲裁，通过分歧驱动质量提升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0332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4. 影像处理串行优化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6个分割模型串行加载/释放GPU显存，VLM支持最多12张图片+分割标注叠加，减少显存压力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D93D"/>
                </a:solidFill>
              </a:defRPr>
            </a:pPr>
            <a:r>
              <a:t>5. 部门级权限隔离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ImagingScope 按科室控制影像源访问，Agent注册表支持科室特定专家动态激活，case_template按部门筛选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4068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6. 完整的可追溯性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CaseLog全流程记录(提取→规则→审查→辩论→仲裁→澄清→最终)，JSON持久化，便于审计和回溯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943600"/>
            <a:ext cx="10972800" cy="548640"/>
          </a:xfrm>
          <a:prstGeom prst="roundRect">
            <a:avLst/>
          </a:prstGeom>
          <a:solidFill>
            <a:srgbClr val="103040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D2FF"/>
                </a:solidFill>
              </a:defRPr>
            </a:pPr>
            <a:r>
              <a:t>FastAPI  →  Orchestrator  →  Rule Engine + LLM Agents + Debate  →  VLM + Segmentation  →  DeepSeek Synthesis  →  Structured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