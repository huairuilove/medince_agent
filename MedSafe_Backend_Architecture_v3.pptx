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345E"/>
          </a:solidFill>
          <a:ln/>
        </p:spPr>
      </p:sp>
      <p:sp>
        <p:nvSpPr>
          <p:cNvPr id="3" name="Shape 1"/>
          <p:cNvSpPr/>
          <p:nvPr/>
        </p:nvSpPr>
        <p:spPr>
          <a:xfrm>
            <a:off x="4251960" y="502920"/>
            <a:ext cx="640080" cy="1645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453128" y="301752"/>
            <a:ext cx="237744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智能用药安全审查系统 · 后端算法架构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2468880"/>
            <a:ext cx="36576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51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BF5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Multi-Agent Debate · VLM Imaging · Rule Engine · FHIR R4 · Knowledge Graph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25,000+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97280" y="3703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行后端代码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143+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017520" y="3703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模块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937760" y="3703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临床科室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39,679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58000" y="3703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条安全规则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+ Vue 3 + Python 3.13 · Qwen3-VL · DeepSeek · MONAI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系统架构总览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EBF5FB"/>
                </a:solidFill>
              </a:rPr>
              <a:t>六阶段流水线 · 确定性优先 · 人在回路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42416"/>
            <a:ext cx="64008" cy="4846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14984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确定性规则引擎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618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类证据收集器 · 39,679 条 DDI · 人群/过敏/场景硬拦截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68880" y="158191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7B93"/>
                </a:solidFill>
              </a:rPr>
              <a:t>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92224"/>
            <a:ext cx="64008" cy="484632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7647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多智能体协作辩论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011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7+ 专科 Agent · MDAgents+ClinicalPilot 混合辩论 · 证据隔离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68880" y="23317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7B93"/>
                </a:solidFill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487168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42032"/>
            <a:ext cx="64008" cy="48463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5146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主任仲裁引擎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7614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Chief Reviewer · LLM+确定性双轨 · 规则不可被覆盖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468880" y="30815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7B93"/>
                </a:solidFill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91840"/>
            <a:ext cx="64008" cy="484632"/>
          </a:xfrm>
          <a:prstGeom prst="rect">
            <a:avLst/>
          </a:prstGeom>
          <a:solidFill>
            <a:srgbClr val="0E8174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26440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影像 VLM 管线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5112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Qwen3-VL 视觉分析 · 6 分割模型 · DeepSeek 报告合成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468880" y="3831336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7B93"/>
                </a:solidFill>
              </a:rPr>
              <a:t>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986784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D4A84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41648"/>
            <a:ext cx="64008" cy="4846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01421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澄清补全引擎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2611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ClarifyEngine · 缺失信息引导 · 模板兜底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94960" y="987552"/>
            <a:ext cx="3383280" cy="36118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32120" y="1078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D4F8B"/>
                </a:solidFill>
              </a:rPr>
              <a:t>核心设计理念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77840" y="13716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确定性优先：规则引擎在 LLM 之前，安全底线不可覆盖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77840" y="175564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证据隔离：每个 Agent 只看自己职责范围内的证据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77840" y="213969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人在回路：药师审核 + 覆盖审计链，LLM 不直接执行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77840" y="25237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多源融合：KB + 知识图谱 + TWOSIDES + DDI-BERT ML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77840" y="290779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FHIR R4 互操作：标准 Bundle 输入输出对接 HIS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77840" y="32918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VLM 影像联动：视觉分析结果直接驱动用药建议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77840" y="367588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全链路审计：CPOE → 规则 → 辩论 → 仲裁 → 签发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77840" y="405993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优雅降级：LLM 不可用时自动切换纯规则模式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确定性规则引擎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EBF5FB"/>
                </a:solidFill>
              </a:rPr>
              <a:t>6 类证据收集器 · 不可被 LLM 覆盖的安全底座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9875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39,679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33502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DDI 规则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57400" y="9601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9875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449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57400" y="133502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重复成分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94760" y="9601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9875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94760" y="133502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人群规则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532120" y="9601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4A84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32120" y="9875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532120" y="133502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过敏规则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269480" y="9601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69480" y="9875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44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69480" y="133502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场景规则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类证据收集器 (ReviewEngine.retrieve_evidence)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14884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148840"/>
            <a:ext cx="54864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1945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成对 DDI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244144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双向查询 KB，对称去重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pair_cache 避免重复规则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46120" y="214884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2148840"/>
            <a:ext cx="54864" cy="91440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21945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DDI-BERT ML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244144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Bio_ClinicalBERT 预测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跳过已有 JSON 规则覆盖的对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26480" y="214884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148840"/>
            <a:ext cx="54864" cy="914400"/>
          </a:xfrm>
          <a:prstGeom prst="rect">
            <a:avLst/>
          </a:prstGeom>
          <a:solidFill>
            <a:srgbClr val="0E8174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21945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重复成分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244144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品牌名→通用名归一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同成分不同药检测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324612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246120"/>
            <a:ext cx="54864" cy="9144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2918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特殊人群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35387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妊娠/哺乳/eGFR/肝功/年龄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字段类型匹配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46120" y="324612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46120" y="3246120"/>
            <a:ext cx="54864" cy="914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40" name="Text 38"/>
          <p:cNvSpPr/>
          <p:nvPr/>
        </p:nvSpPr>
        <p:spPr>
          <a:xfrm>
            <a:off x="3383280" y="32918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过敏交叉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383280" y="35387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过敏史→KB 交叉反应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子串匹配 + 禁忌检测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126480" y="324612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0" y="3246120"/>
            <a:ext cx="54864" cy="9144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4" name="Text 42"/>
          <p:cNvSpPr/>
          <p:nvPr/>
        </p:nvSpPr>
        <p:spPr>
          <a:xfrm>
            <a:off x="6263640" y="32918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临床场景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63640" y="35387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多药联用/跌倒风险/肾调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抗胆碱负荷 4 种场景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03520" y="214884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440680" y="2240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E8174"/>
                </a:solidFill>
              </a:rPr>
              <a:t>科室优先级过滤</a:t>
            </a: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440680" y="25328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DepartmentRulePrioritizer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按科室调整证据优先级顺序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传递 department 参数到 KB 查询</a:t>
            </a: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303520" y="324612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44068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0392B"/>
                </a:solidFill>
              </a:rPr>
              <a:t>风险升级逻辑</a:t>
            </a: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440680" y="36301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none &lt; low &lt; medium &lt; high &lt; unknown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high 或 need_clarification → 硬拦截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unknown 风险同样触发 block</a:t>
            </a: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5303520" y="4343400"/>
            <a:ext cx="34747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440680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7AE60"/>
                </a:solidFill>
              </a:rPr>
              <a:t>执行性能</a:t>
            </a: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440680" y="4727448"/>
            <a:ext cx="3200400" cy="-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全部 6 类证据收集 &lt; 50ms 完成</a:t>
            </a: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多源知识融合体系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EBF5FB"/>
                </a:solidFill>
              </a:rPr>
              <a:t>结构化规则 + 知识图谱 + 真实世界信号 + ML 模型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24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2697480" cy="457200"/>
          </a:xfrm>
          <a:prstGeom prst="rect">
            <a:avLst>
              <a:gd name="adj" fmla="val 16000"/>
            </a:avLst>
          </a:prstGeom>
          <a:solidFill>
            <a:srgbClr val="0D4F8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234440"/>
            <a:ext cx="2697480" cy="18288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005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结构化知识库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hospital_production_v4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9019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39,679 DDI 规则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2494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449 重复成分规则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59689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103 特殊人群规则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9443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21 过敏交叉规则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494 药物别名映射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96012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240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960120"/>
            <a:ext cx="2697480" cy="457200"/>
          </a:xfrm>
          <a:prstGeom prst="rect">
            <a:avLst>
              <a:gd name="adj" fmla="val 16000"/>
            </a:avLst>
          </a:prstGeom>
          <a:solidFill>
            <a:srgbClr val="0E8174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0" y="1234440"/>
            <a:ext cx="2697480" cy="182880"/>
          </a:xfrm>
          <a:prstGeom prst="rect">
            <a:avLst/>
          </a:prstGeom>
          <a:solidFill>
            <a:srgbClr val="0E8174"/>
          </a:solidFill>
          <a:ln/>
        </p:spPr>
      </p:sp>
      <p:sp>
        <p:nvSpPr>
          <p:cNvPr id="20" name="Text 18"/>
          <p:cNvSpPr/>
          <p:nvPr/>
        </p:nvSpPr>
        <p:spPr>
          <a:xfrm>
            <a:off x="3310128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03320" y="1005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药物知识图谱 v2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1554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drug_kg_v2.json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560" y="19019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772 节点 (药物/靶点/通路)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22494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40,481 条边关系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259689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GraphRAG 多跳推理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7560" y="29443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ATC 分类体系集成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37560" y="3291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药物→靶点→疾病→禁忌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80760" y="96012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5240">
            <a:solidFill>
              <a:srgbClr val="D4A84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960120"/>
            <a:ext cx="2697480" cy="457200"/>
          </a:xfrm>
          <a:prstGeom prst="rect">
            <a:avLst>
              <a:gd name="adj" fmla="val 16000"/>
            </a:avLst>
          </a:prstGeom>
          <a:solidFill>
            <a:srgbClr val="D4A843"/>
          </a:solidFill>
          <a:ln/>
        </p:spPr>
      </p:sp>
      <p:sp>
        <p:nvSpPr>
          <p:cNvPr id="30" name="Shape 28"/>
          <p:cNvSpPr/>
          <p:nvPr/>
        </p:nvSpPr>
        <p:spPr>
          <a:xfrm>
            <a:off x="6080760" y="1234440"/>
            <a:ext cx="2697480" cy="1828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1" name="Text 29"/>
          <p:cNvSpPr/>
          <p:nvPr/>
        </p:nvSpPr>
        <p:spPr>
          <a:xfrm>
            <a:off x="6190488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1005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TWOSIDES 真实世界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1554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42.9M 条原始报告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19019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4.58M 通过质量过滤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0" y="22494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39,280 条显著信号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17920" y="259689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PRR ≥ 2.0 + 计数 ≥ 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0" y="29443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578 对升级确认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17920" y="3291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覆盖 228 个药物对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397764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8E44AD"/>
                </a:solidFill>
              </a:rPr>
              <a:t>DDI-BERT 机器学习补充层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57200" y="4361688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Bio_ClinicalBERT 模型预测未知药物对交互 → 仅对 JSON 规则未覆盖的药物对生效 → source="ddi_bert_model" → 与规则引擎互补而非替代</a:t>
            </a: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专科医生多智能体架构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EBF5FB"/>
                </a:solidFill>
              </a:rPr>
              <a:t>7+ 专科 Agent · YAML 动态注册 · 证据隔离 · 角色约束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594360" cy="594360"/>
          </a:xfrm>
          <a:prstGeom prst="ellipse">
            <a:avLst/>
          </a:prstGeom>
          <a:solidFill>
            <a:srgbClr val="0D4F8B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875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162763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临床药师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1801368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DDI/重复/剂量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28600" y="2011680"/>
            <a:ext cx="1051560" cy="685800"/>
          </a:xfrm>
          <a:prstGeom prst="roundRect">
            <a:avLst>
              <a:gd name="adj" fmla="val 5333"/>
            </a:avLst>
          </a:prstGeom>
          <a:solidFill>
            <a:srgbClr val="F7FBFD"/>
          </a:solidFill>
          <a:ln w="6350">
            <a:solidFill>
              <a:srgbClr val="0D4F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drug_interaction</a:t>
            </a:r>
            <a:endParaRPr lang="en-US" sz="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duplicate_ingredient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709928" y="987552"/>
            <a:ext cx="594360" cy="594360"/>
          </a:xfrm>
          <a:prstGeom prst="ellipse">
            <a:avLst/>
          </a:prstGeom>
          <a:solidFill>
            <a:srgbClr val="2980B9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09928" y="9875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81328" y="162763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内科主治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481328" y="1801368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适应症/方案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481328" y="2011680"/>
            <a:ext cx="1051560" cy="685800"/>
          </a:xfrm>
          <a:prstGeom prst="roundRect">
            <a:avLst>
              <a:gd name="adj" fmla="val 5333"/>
            </a:avLst>
          </a:prstGeom>
          <a:solidFill>
            <a:srgbClr val="F7FBFD"/>
          </a:solidFill>
          <a:ln w="635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27048" y="2029968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clinical_scenario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962656" y="987552"/>
            <a:ext cx="594360" cy="59436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62656" y="9875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34056" y="162763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过敏专员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34056" y="1801368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过敏/交叉/ADR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734056" y="2011680"/>
            <a:ext cx="1051560" cy="685800"/>
          </a:xfrm>
          <a:prstGeom prst="roundRect">
            <a:avLst>
              <a:gd name="adj" fmla="val 5333"/>
            </a:avLst>
          </a:prstGeom>
          <a:solidFill>
            <a:srgbClr val="F7FBFD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9776" y="2029968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allergy_contraindication</a:t>
            </a:r>
            <a:endParaRPr lang="en-US" sz="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adr / adr_history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215384" y="987552"/>
            <a:ext cx="594360" cy="594360"/>
          </a:xfrm>
          <a:prstGeom prst="ellipse">
            <a:avLst/>
          </a:prstGeom>
          <a:solidFill>
            <a:srgbClr val="E67E22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15384" y="9875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86784" y="162763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药房库管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986784" y="1801368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处方集/库存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986784" y="2011680"/>
            <a:ext cx="1051560" cy="685800"/>
          </a:xfrm>
          <a:prstGeom prst="roundRect">
            <a:avLst>
              <a:gd name="adj" fmla="val 5333"/>
            </a:avLst>
          </a:prstGeom>
          <a:solidFill>
            <a:srgbClr val="F7FBFD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32504" y="2029968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DrugCatalog</a:t>
            </a:r>
            <a:endParaRPr lang="en-US" sz="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formulary 查询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5468112" y="987552"/>
            <a:ext cx="594360" cy="594360"/>
          </a:xfrm>
          <a:prstGeom prst="ellipse">
            <a:avLst/>
          </a:prstGeom>
          <a:solidFill>
            <a:srgbClr val="0E8174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68112" y="9875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39512" y="162763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特殊人群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39512" y="1801368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妊娠/老年/肝肾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239512" y="2011680"/>
            <a:ext cx="1051560" cy="685800"/>
          </a:xfrm>
          <a:prstGeom prst="roundRect">
            <a:avLst>
              <a:gd name="adj" fmla="val 5333"/>
            </a:avLst>
          </a:prstGeom>
          <a:solidFill>
            <a:srgbClr val="F7FBFD"/>
          </a:solidFill>
          <a:ln w="6350">
            <a:solidFill>
              <a:srgbClr val="0E817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85232" y="2029968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special_population</a:t>
            </a:r>
            <a:endParaRPr lang="en-US" sz="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clinical_scenario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6720840" y="987552"/>
            <a:ext cx="594360" cy="594360"/>
          </a:xfrm>
          <a:prstGeom prst="ellipse">
            <a:avLst/>
          </a:prstGeom>
          <a:solidFill>
            <a:srgbClr val="8E44AD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720840" y="9875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92240" y="162763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E44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专科医师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92240" y="1801368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科室特定约束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492240" y="2011680"/>
            <a:ext cx="1051560" cy="685800"/>
          </a:xfrm>
          <a:prstGeom prst="roundRect">
            <a:avLst>
              <a:gd name="adj" fmla="val 5333"/>
            </a:avLst>
          </a:prstGeom>
          <a:solidFill>
            <a:srgbClr val="F7FBFD"/>
          </a:solidFill>
          <a:ln w="6350">
            <a:solidFill>
              <a:srgbClr val="8E44A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2029968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科室优先类别</a:t>
            </a:r>
            <a:endParaRPr lang="en-US" sz="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排除核心 DDI/过敏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7973568" y="987552"/>
            <a:ext cx="594360" cy="594360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973568" y="9875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44968" y="1627632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信息协调员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744968" y="1801368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澄清/补全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744968" y="2011680"/>
            <a:ext cx="1051560" cy="685800"/>
          </a:xfrm>
          <a:prstGeom prst="roundRect">
            <a:avLst>
              <a:gd name="adj" fmla="val 5333"/>
            </a:avLst>
          </a:prstGeom>
          <a:solidFill>
            <a:srgbClr val="F7FBFD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90688" y="2029968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缺失字段</a:t>
            </a:r>
            <a:endParaRPr lang="en-US" sz="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模板兜底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36576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证据隔离与角色约束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" y="320040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65760" y="3200400"/>
            <a:ext cx="2697480" cy="36576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32735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角色证据过滤 (role_evidence.py)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7200" y="356616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Agent 通过 filter_*_evidence() 只看自己职责范围的证据</a:t>
            </a:r>
            <a:endParaRPr lang="en-US" sz="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临床药师只看 DDI/重复 → 不会越界讨论过敏或适应症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246120" y="320040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246120" y="3200400"/>
            <a:ext cx="2697480" cy="36576"/>
          </a:xfrm>
          <a:prstGeom prst="rect">
            <a:avLst/>
          </a:prstGeom>
          <a:solidFill>
            <a:srgbClr val="0E8174"/>
          </a:solidFill>
          <a:ln/>
        </p:spPr>
      </p:sp>
      <p:sp>
        <p:nvSpPr>
          <p:cNvPr id="55" name="Text 53"/>
          <p:cNvSpPr/>
          <p:nvPr/>
        </p:nvSpPr>
        <p:spPr>
          <a:xfrm>
            <a:off x="3337560" y="32735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外来标记清洗 (strip_foreign_evidence_citations)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37560" y="356616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输出中引用了角色外的证据会被自动剥离</a:t>
            </a:r>
            <a:endParaRPr lang="en-US" sz="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如: 临床药师输出中的 '过敏' 内容会被过滤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126480" y="320040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126480" y="3200400"/>
            <a:ext cx="2697480" cy="36576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59" name="Text 57"/>
          <p:cNvSpPr/>
          <p:nvPr/>
        </p:nvSpPr>
        <p:spPr>
          <a:xfrm>
            <a:off x="6217920" y="32735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44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动态注册 (registry.yaml)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217920" y="356616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通过 AgentSpec 定义: debate/skills/activate_when</a:t>
            </a:r>
            <a:endParaRPr lang="en-US" sz="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科室专科 Agent 按 drug_keywords/department/age 动态激活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62" name="Text 60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多智能体辩论机制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EBF5FB"/>
                </a:solidFill>
              </a:rPr>
              <a:t>ClinicalPilot 对抗修正 + MDAgents 综合仲裁 · 混合范式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辩论流程 (DebateEngine)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25880"/>
            <a:ext cx="54864" cy="54864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3441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Round 1: 并行审查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527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Agent 通过 ThreadPoolExecutor 并行 review()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各自产出 AgentOpinion (risk/block/confidence/reasons)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560320" y="187452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B93"/>
                </a:solidFill>
              </a:rPr>
              <a:t>▼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011680"/>
            <a:ext cx="54864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0299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Critic 对抗审查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2128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CriticAgent: 确定性检查(block分歧/风险分歧/低置信度/遗漏规则)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LLM 对抗审查 → 产出 CriticOutput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60320" y="256032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B93"/>
                </a:solidFill>
              </a:rPr>
              <a:t>▼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97480"/>
            <a:ext cx="54864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7157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共识判定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2898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consensus_reached = True AND min_confidence ≥ 0.75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共识达成 → 退出循环 → 进入综合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未达成共识 → 进入修正轮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560320" y="3246120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7B93"/>
                </a:solidFill>
              </a:rPr>
              <a:t>▼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83280"/>
            <a:ext cx="54864" cy="5486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4015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44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Round 2~N: 修正审查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35844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format_critique() 将 CriticOutput 转为修正文本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Agent.review_with_critique() 带修正重新审查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 +0.08 (上限 0.92) 模拟修正后信心提升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39496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双模式混合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94960" y="128016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32120" y="1371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0392B"/>
                </a:solidFill>
              </a:rPr>
              <a:t>ClinicalPilot 对抗修正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532120" y="166420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CriticAgent 每轮对抗审查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发现分歧 → 生成修正文本 → Agent 修正意见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迭代至共识或 max_rounds (3)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394960" y="246888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32120" y="2560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D4F8B"/>
                </a:solidFill>
              </a:rPr>
              <a:t>MDAgents 综合仲裁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32120" y="285292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ModeratorAgent 辩论后综合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汇总所有轮次 → 一致性/冲突分析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产出 integration_summary 提交主任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394960" y="365760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53212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7AE60"/>
                </a:solidFill>
              </a:rPr>
              <a:t>SafetyPanel 独立规则审计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532120" y="4041648"/>
            <a:ext cx="310896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并行于辩论运行 → 独立规则引擎复核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block_recommended + rule_strict → 强制拦截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394960" y="4343400"/>
            <a:ext cx="33832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532120" y="4434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8E44AD"/>
                </a:solidFill>
              </a:rPr>
              <a:t>Chief Reviewer 主任仲裁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532120" y="4727448"/>
            <a:ext cx="3108960" cy="-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LLM + 确定性双轨 · 规则 high 不可降级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医学影像管线 (上)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EBF5FB"/>
                </a:solidFill>
              </a:rPr>
              <a:t>src/imaging/ · 24 文件 · 3,085 行 · 5 数据源 · 6 分割模型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数据源目录 (ImagingCatalog)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389120" cy="27432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25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MIMIC-IV CT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45920" y="1325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94560" y="1325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NIfTI (.nii.gz)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291840" y="1325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重症监护影像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" y="1645920"/>
            <a:ext cx="43891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459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MIMIC-CXR-JPG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45920" y="1645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94560" y="1645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JPG/PNG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9184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胸部 X 光 + 报告 XML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65760" y="1965960"/>
            <a:ext cx="4389120" cy="27432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965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BraTS 2024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645920" y="1965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MRI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94560" y="1965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NIfTI 4通道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291840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脑肿瘤 t1c/t1n/t2w/t2f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65760" y="2286000"/>
            <a:ext cx="438912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286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KiTS19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645920" y="22860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9456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NIfTI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29184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肾脏肿瘤分割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65760" y="2606040"/>
            <a:ext cx="4389120" cy="27432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606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Chest CT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645920" y="2606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94560" y="2606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NIfTI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29184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胸部 CT 扫描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6576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分割模型后端 (SegmentService 串行加载 · 16GB 内存安全)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383280"/>
            <a:ext cx="2697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8912" y="3456432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438912" y="345643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2D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143000" y="342900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CXR 病灶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36758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U-Net 肺炎检测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Grad-CAM DenseNet121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246120" y="3383280"/>
            <a:ext cx="2697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319272" y="3456432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8E44AD"/>
          </a:solidFill>
          <a:ln/>
        </p:spPr>
      </p:sp>
      <p:sp>
        <p:nvSpPr>
          <p:cNvPr id="40" name="Text 38"/>
          <p:cNvSpPr/>
          <p:nvPr/>
        </p:nvSpPr>
        <p:spPr>
          <a:xfrm>
            <a:off x="3319272" y="345643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023360" y="342900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44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BraTS 肿瘤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37560" y="36758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MONAI Bundle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WT/TC/ET 区域分割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126480" y="3383280"/>
            <a:ext cx="2697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99632" y="3456432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0D4F8B"/>
          </a:solidFill>
          <a:ln/>
        </p:spPr>
      </p:sp>
      <p:sp>
        <p:nvSpPr>
          <p:cNvPr id="45" name="Text 43"/>
          <p:cNvSpPr/>
          <p:nvPr/>
        </p:nvSpPr>
        <p:spPr>
          <a:xfrm>
            <a:off x="6199632" y="345643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903720" y="342900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VISTA3D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17920" y="36758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MONAI VISTA3D Bundle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体积推理 + 伪3D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65760" y="4114800"/>
            <a:ext cx="2697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38912" y="4187952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0E8174"/>
          </a:solidFill>
          <a:ln/>
        </p:spPr>
      </p:sp>
      <p:sp>
        <p:nvSpPr>
          <p:cNvPr id="50" name="Text 48"/>
          <p:cNvSpPr/>
          <p:nvPr/>
        </p:nvSpPr>
        <p:spPr>
          <a:xfrm>
            <a:off x="438912" y="41879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2D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143000" y="41605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TotalSeg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44074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TotalSegmentator API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2D 快速模式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246120" y="4114800"/>
            <a:ext cx="2697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319272" y="4187952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D4A843"/>
          </a:solidFill>
          <a:ln/>
        </p:spPr>
      </p:sp>
      <p:sp>
        <p:nvSpPr>
          <p:cNvPr id="55" name="Text 53"/>
          <p:cNvSpPr/>
          <p:nvPr/>
        </p:nvSpPr>
        <p:spPr>
          <a:xfrm>
            <a:off x="3319272" y="41879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2D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023360" y="41605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SAM-Med3D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337560" y="44074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空间注意力提示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 CPU 代理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126480" y="4114800"/>
            <a:ext cx="2697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199632" y="4187952"/>
            <a:ext cx="640080" cy="182880"/>
          </a:xfrm>
          <a:prstGeom prst="roundRect">
            <a:avLst>
              <a:gd name="adj" fmla="val 15000"/>
            </a:avLst>
          </a:prstGeom>
          <a:solidFill>
            <a:srgbClr val="E67E22"/>
          </a:solidFill>
          <a:ln/>
        </p:spPr>
      </p:sp>
      <p:sp>
        <p:nvSpPr>
          <p:cNvPr id="60" name="Text 58"/>
          <p:cNvSpPr/>
          <p:nvPr/>
        </p:nvSpPr>
        <p:spPr>
          <a:xfrm>
            <a:off x="6199632" y="41879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2D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903720" y="41605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SAM2D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217920" y="44074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点/框提示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强度阈值区域生长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医学影像管线 (下)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EBF5FB"/>
                </a:solidFill>
              </a:rPr>
              <a:t>Qwen3-VL 视觉分析 · DeepSeek 报告合成 · 多智能体用药审查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4114800" cy="365760"/>
          </a:xfrm>
          <a:prstGeom prst="rect">
            <a:avLst>
              <a:gd name="adj" fmla="val 20000"/>
            </a:avLst>
          </a:prstGeom>
          <a:solidFill>
            <a:srgbClr val="0E8174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143000"/>
            <a:ext cx="4114800" cy="182880"/>
          </a:xfrm>
          <a:prstGeom prst="rect">
            <a:avLst/>
          </a:prstGeom>
          <a:solidFill>
            <a:srgbClr val="0E817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987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VLM 视觉分析 — Qwen3-VL-Plus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38988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模型: Qwen3-VL-Plus (阿里云百炼 OpenAI 兼容 API)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1545336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≤12 张 base64 PNG + 临床文本提示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02920" y="1700784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温度: 0.1 (高确定性输出)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1856232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JSON 结构: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02920" y="2011680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clinical_analysis / imaging_findings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02920" y="216712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medication_recommendation / recommended_drugs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2920" y="2322576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allergies / diagnoses / symptoms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02920" y="2478024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chief_complaint / anesthesia_surgery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02920" y="2633472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reasoning / risk_level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02920" y="2788920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缓存: ImagingAnalysisCacheStore → JSON 持久化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663440" y="96012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960120"/>
            <a:ext cx="4114800" cy="365760"/>
          </a:xfrm>
          <a:prstGeom prst="rect">
            <a:avLst>
              <a:gd name="adj" fmla="val 20000"/>
            </a:avLst>
          </a:prstGeom>
          <a:solidFill>
            <a:srgbClr val="8E44AD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1143000"/>
            <a:ext cx="4114800" cy="18288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987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报告合成 — 多智能体会诊主席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138988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模型: deepseek-chat (OpenAI 兼容 API)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800600" y="1545336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角色: 临床多智能体会诊主席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800600" y="1700784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输入: VLM 分析 + Agent 意见 + 仲裁 + 规则 + CoT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800600" y="1856232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温度: 0.2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800600" y="2011680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JSON 结构: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800600" y="216712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clinical_analysis / imaging_findings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800600" y="2322576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medication_recommendation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800600" y="2478024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pharmacy_assessment / allergy_analysis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00600" y="2633472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anesthesia_surgery / risk_summary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800600" y="2788920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chain_of_thought (推理链)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6576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完整报告生成流程 (warm_study_full_report)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520440"/>
            <a:ext cx="12801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520440"/>
            <a:ext cx="1280160" cy="36576"/>
          </a:xfrm>
          <a:prstGeom prst="rect">
            <a:avLst/>
          </a:prstGeom>
          <a:solidFill>
            <a:srgbClr val="0E8174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35844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VLM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缓存检查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0040" y="4023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已有缓存</a:t>
            </a:r>
            <a:endParaRPr lang="en-US" sz="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直接复用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50876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7B93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737360" y="3520440"/>
            <a:ext cx="12801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737360" y="3520440"/>
            <a:ext cx="1280160" cy="36576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42" name="Text 40"/>
          <p:cNvSpPr/>
          <p:nvPr/>
        </p:nvSpPr>
        <p:spPr>
          <a:xfrm>
            <a:off x="1783080" y="35844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候选药物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783080" y="4023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VLM 推荐</a:t>
            </a:r>
            <a:endParaRPr lang="en-US" sz="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或数据源回退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97180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7B93"/>
                </a:solidFill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200400" y="3520440"/>
            <a:ext cx="12801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0" y="3520440"/>
            <a:ext cx="128016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7" name="Text 45"/>
          <p:cNvSpPr/>
          <p:nvPr/>
        </p:nvSpPr>
        <p:spPr>
          <a:xfrm>
            <a:off x="3246120" y="35844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ReportGenerator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多智能体审查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46120" y="4023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完整辩论流水线</a:t>
            </a:r>
            <a:endParaRPr lang="en-US" sz="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规则→Agent→仲裁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43484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7B93"/>
                </a:solidFill>
              </a:rPr>
              <a:t>→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663440" y="3520440"/>
            <a:ext cx="12801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63440" y="3520440"/>
            <a:ext cx="1280160" cy="36576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52" name="Text 50"/>
          <p:cNvSpPr/>
          <p:nvPr/>
        </p:nvSpPr>
        <p:spPr>
          <a:xfrm>
            <a:off x="4709160" y="35844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8E44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8E44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报告合成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09160" y="4023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整合影像+审查</a:t>
            </a:r>
            <a:endParaRPr lang="en-US" sz="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生成结构化报告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89788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7B93"/>
                </a:solidFill>
              </a:rPr>
              <a:t>→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126480" y="3520440"/>
            <a:ext cx="12801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D4A84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126480" y="3520440"/>
            <a:ext cx="128016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7" name="Text 55"/>
          <p:cNvSpPr/>
          <p:nvPr/>
        </p:nvSpPr>
        <p:spPr>
          <a:xfrm>
            <a:off x="6172200" y="35844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报告缓存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172200" y="4023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ImagingReport</a:t>
            </a:r>
            <a:endParaRPr lang="en-US" sz="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CacheStore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36092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7B93"/>
                </a:solidFill>
              </a:rPr>
              <a:t>→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7589520" y="3520440"/>
            <a:ext cx="12801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589520" y="3520440"/>
            <a:ext cx="128016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2" name="Text 60"/>
          <p:cNvSpPr/>
          <p:nvPr/>
        </p:nvSpPr>
        <p:spPr>
          <a:xfrm>
            <a:off x="7635240" y="35844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CaseStore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635240" y="4023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case_kind:</a:t>
            </a:r>
            <a:endParaRPr lang="en-US" sz="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"imaging_report"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CPOE 医嘱录入审查流水线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EBF5FB"/>
                </a:solidFill>
              </a:rPr>
              <a:t>POST /api/v1/cpoe/medication-review · CpoeReviewFacade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1097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5D7B9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005840"/>
            <a:ext cx="274320" cy="274320"/>
          </a:xfrm>
          <a:prstGeom prst="ellipse">
            <a:avLst/>
          </a:prstGeom>
          <a:solidFill>
            <a:srgbClr val="5D7B93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6032" y="1298448"/>
            <a:ext cx="1042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医嘱录入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" y="1536192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CPOE / FHIR</a:t>
            </a:r>
            <a:endParaRPr lang="en-US" sz="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Bundle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280160" y="1280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B93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90472" y="960120"/>
            <a:ext cx="1097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56232" y="1005840"/>
            <a:ext cx="274320" cy="274320"/>
          </a:xfrm>
          <a:prstGeom prst="ellipse">
            <a:avLst/>
          </a:prstGeom>
          <a:solidFill>
            <a:srgbClr val="0D4F8B"/>
          </a:solidFill>
          <a:ln/>
        </p:spPr>
      </p:sp>
      <p:sp>
        <p:nvSpPr>
          <p:cNvPr id="14" name="Text 12"/>
          <p:cNvSpPr/>
          <p:nvPr/>
        </p:nvSpPr>
        <p:spPr>
          <a:xfrm>
            <a:off x="1856232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17904" y="1298448"/>
            <a:ext cx="1042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药物解析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17904" y="1536192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hospital_drug_id</a:t>
            </a:r>
            <a:endParaRPr lang="en-US" sz="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CandidateDrug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42032" y="1280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B93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52344" y="960120"/>
            <a:ext cx="1097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18104" y="1005840"/>
            <a:ext cx="274320" cy="2743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3118104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79776" y="1298448"/>
            <a:ext cx="1042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目录预警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79776" y="1536192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处方集/库存</a:t>
            </a:r>
            <a:endParaRPr lang="en-US" sz="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高警示药物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803904" y="1280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B93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14216" y="960120"/>
            <a:ext cx="1097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79976" y="1005840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4379976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41648" y="1298448"/>
            <a:ext cx="1042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41648" y="1536192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类证据</a:t>
            </a:r>
            <a:endParaRPr lang="en-US" sz="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50ms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065776" y="1280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B93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76088" y="960120"/>
            <a:ext cx="1097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41848" y="1005840"/>
            <a:ext cx="274320" cy="274320"/>
          </a:xfrm>
          <a:prstGeom prst="ellipse">
            <a:avLst/>
          </a:prstGeom>
          <a:solidFill>
            <a:srgbClr val="0E8174"/>
          </a:solidFill>
          <a:ln/>
        </p:spPr>
      </p:sp>
      <p:sp>
        <p:nvSpPr>
          <p:cNvPr id="32" name="Text 30"/>
          <p:cNvSpPr/>
          <p:nvPr/>
        </p:nvSpPr>
        <p:spPr>
          <a:xfrm>
            <a:off x="5641848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03520" y="1298448"/>
            <a:ext cx="1042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智能体辩论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03520" y="1536192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MDAgents</a:t>
            </a:r>
            <a:endParaRPr lang="en-US" sz="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Multi-Round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327648" y="1280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B93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37960" y="960120"/>
            <a:ext cx="1097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03720" y="1005840"/>
            <a:ext cx="274320" cy="27432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38" name="Text 36"/>
          <p:cNvSpPr/>
          <p:nvPr/>
        </p:nvSpPr>
        <p:spPr>
          <a:xfrm>
            <a:off x="6903720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65392" y="1298448"/>
            <a:ext cx="1042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44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主任仲裁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65392" y="1536192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Chief Review</a:t>
            </a:r>
            <a:endParaRPr lang="en-US" sz="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分歧收敛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589520" y="1280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B93"/>
                </a:solidFill>
              </a:rPr>
              <a:t>→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799832" y="960120"/>
            <a:ext cx="1097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65592" y="1005840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4" name="Text 42"/>
          <p:cNvSpPr/>
          <p:nvPr/>
        </p:nvSpPr>
        <p:spPr>
          <a:xfrm>
            <a:off x="8165592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827264" y="1298448"/>
            <a:ext cx="1042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签发报告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827264" y="1536192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hard_stop /</a:t>
            </a:r>
            <a:endParaRPr lang="en-US" sz="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warning / info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6576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目录预警系统 (DrugCatalogService)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2560320"/>
            <a:ext cx="1645920" cy="201168"/>
          </a:xfrm>
          <a:prstGeom prst="roundRect">
            <a:avLst>
              <a:gd name="adj" fmla="val 13636"/>
            </a:avLst>
          </a:prstGeom>
          <a:solidFill>
            <a:srgbClr val="E67E22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25603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UNRESOLVED_DRUG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194560" y="25603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hospital_drug_id 无法解析 → warning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7200" y="2834640"/>
            <a:ext cx="1645920" cy="201168"/>
          </a:xfrm>
          <a:prstGeom prst="roundRect">
            <a:avLst>
              <a:gd name="adj" fmla="val 13636"/>
            </a:avLst>
          </a:prstGeom>
          <a:solidFill>
            <a:srgbClr val="C0392B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28346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NOT_IN_FORMULARY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2194560" y="28346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药物不在处方集 → block + 替代方案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3108960"/>
            <a:ext cx="1645920" cy="201168"/>
          </a:xfrm>
          <a:prstGeom prst="roundRect">
            <a:avLst>
              <a:gd name="adj" fmla="val 13636"/>
            </a:avLst>
          </a:prstGeom>
          <a:solidFill>
            <a:srgbClr val="8E44AD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31089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OUT_OF_STOCK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2194560" y="31089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库存为零 → block + 有库存替代品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57200" y="3383280"/>
            <a:ext cx="1645920" cy="201168"/>
          </a:xfrm>
          <a:prstGeom prst="roundRect">
            <a:avLst>
              <a:gd name="adj" fmla="val 13636"/>
            </a:avLst>
          </a:prstGeom>
          <a:solidFill>
            <a:srgbClr val="C0392B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" y="338328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HIGH_ALERT_DRUG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2194560" y="33832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高警示药物 → 需双人核查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12064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严重级别映射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212080" y="2560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risk=high + rule_strict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040880" y="2560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hard_stop (不可覆盖)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212080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risk=high + !rule_strict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040880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warning (可覆盖)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212080" y="3108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risk=medium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7040880" y="3108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warning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212080" y="3383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risk=low/none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7040880" y="3383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info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65760" y="374904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502920" y="38404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D4F8B"/>
                </a:solidFill>
              </a:rPr>
              <a:t>分支决策逻辑</a:t>
            </a: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502920" y="413308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hard_stop → blocked (医嘱不可执行)  |  warning → 需药师审核 → 进入 PharmacyQueue  |  info → passed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规则引擎 high → 直接拦截，不进入辩论  |  Agent 共识 ≥ 0.75 → 自动签发  |  分歧 → Chief 仲裁  |  信息缺失 → ClarifyEngine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药师覆盖 → OverrideAuditLog 记录原因  |  rule_strict=True 时规则不可被 LLM/辩论降级  |  SafetyPanel 可强制拦截</a:t>
            </a:r>
            <a:endParaRPr lang="en-US" dirty="0"/>
          </a:p>
        </p:txBody>
      </p:sp>
      <p:sp>
        <p:nvSpPr>
          <p:cNvPr id="72" name="Shape 7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73" name="Text 7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科室专科化引擎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EBF5FB"/>
                </a:solidFill>
              </a:rPr>
              <a:t>26 科室覆盖 · 处方集 · 专科路由 · 安全约束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科室覆盖矩阵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258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心内科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508760" y="13258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3258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内分泌科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97480" y="13258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3258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呼吸科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86200" y="13258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13258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消化科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74920" y="13258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3258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肾内科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63640" y="13258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3258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神经内科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452360" y="13258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13258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血液科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17830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7830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肿瘤科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08760" y="17830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8760" y="17830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感染科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697480" y="17830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17830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风湿科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886200" y="17830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17830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ICU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74920" y="17830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17830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急诊科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63640" y="17830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17830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骨科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52360" y="17830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2360" y="17830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神经外科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22402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2402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泌尿外科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508760" y="22402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22402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眼科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697480" y="22402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97480" y="22402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耳鼻喉科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886200" y="22402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86200" y="22402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皮肤科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074920" y="22402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22402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妇产科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263640" y="22402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22402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儿科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52360" y="22402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22402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老年科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0040" y="26974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26974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麻醉科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508760" y="26974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508760" y="26974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康复科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697480" y="26974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97480" y="26974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放射科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886200" y="26974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86200" y="26974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全科内科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074920" y="2697480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74920" y="26974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精神科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46320" y="96012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98348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E8174"/>
                </a:solidFill>
              </a:rPr>
              <a:t>科室模块 (src/department/ · 583 行)</a:t>
            </a: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983480" y="1344168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formulary.py — 科室处方集 (首选/替代/禁忌)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priority.py — 科室优先级规则 (紧急场景覆盖)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context.py — 科室上下文注入 (Agent 提示词)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stats.py — 科室审查统计 (拦截率分析)</a:t>
            </a: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320040" y="310896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5720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8E44AD"/>
                </a:solidFill>
              </a:rPr>
              <a:t>专科 Agent 路由 (specialist_router.py)</a:t>
            </a: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457200" y="3493008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请求 → 识别科室 → 加载科室上下文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→ 注入 Agent 提示词 → 处方集过滤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→ 专科安全约束 → 进入辩论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DepartmentSpecialistAgent 激活条件: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always / department / drug_keywords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drug_classes / age_lt / pregnancy_active</a:t>
            </a: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4663440" y="310896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A84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480060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D4A843"/>
                </a:solidFill>
              </a:rPr>
              <a:t>Skill 组合系统 (skill_loader.py)</a:t>
            </a: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800600" y="349300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YAML 注册 → AgentSpec 定义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→ load_skill_body() 加载 Markdown 片段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→ compose_system_prompt() 组合最终提示词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→ {{variable}} 模板替换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每个 Agent 可叠加多个 skill 片段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实现模块化提示词工程</a:t>
            </a: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69" name="Text 67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FHIR R4 互操作性适配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EBF5FB"/>
                </a:solidFill>
              </a:rPr>
              <a:t>fhir.resources 8.2.0 · Pydantic V2 · 双向 Bundle 转换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D4F8B"/>
                </a:solidFill>
              </a:rPr>
              <a:t>FhirAdapter 核心架构 (470 行)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2920" y="134416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MedicationRequest → 内部处方模型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Patient → 人群特征提取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Bundle → 批量请求编排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双向转换 · 无损映射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Coding 系统映射 (coding.py)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CapabilityStatement (capability.py)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FHIR 约束校验 (validation.py)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E8174"/>
                </a:solidFill>
              </a:rPr>
              <a:t>模块组成 (6 文件 · 1,058 行)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00600" y="134416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adapter.py      470L  核心转换引擎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models.py       180L  FHIR 数据模型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routes.py       126L  3 个 RESTful 端点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coding.py       112L  编码系统映射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capability.py    95L  CapabilityStatement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validation.py    75L  FHIR 约束校验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FHIR API 端点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5468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51560" y="31546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/fhir/MedicationRequest/$review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97680" y="31546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单条医嘱 FHIR 格式审查 → DetectedIssue Bundle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447288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4728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51560" y="344728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/fhir/Bundle/$review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97680" y="344728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Bundle 批量审查 + 事务编排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739896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2980B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39896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51560" y="373989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/fhir/metadata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97680" y="373989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CapabilityStatement 服务发现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4032504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2980B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32504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51560" y="403250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/fhir/ValueSet/interaction-types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97680" y="403250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交互类型代码集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434340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D4F8B"/>
                </a:solidFill>
              </a:rPr>
              <a:t>数据流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2920" y="4727448"/>
            <a:ext cx="8138160" cy="-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FHIR Bundle → FhirAdapter 转换 → CpoeReviewFacade.review() → 规则引擎 → 审查结果 → FHIR DetectedIssue Bundle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药师工作台 · 全链路审计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EBF5FB"/>
                </a:solidFill>
              </a:rPr>
              <a:t>src/pharmacy/ · 8 文件 · 1,164 行 · 角色权限守护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角色权限体系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99032"/>
            <a:ext cx="411480" cy="265176"/>
          </a:xfrm>
          <a:prstGeom prst="roundRect">
            <a:avLst>
              <a:gd name="adj" fmla="val 13793"/>
            </a:avLst>
          </a:prstGeom>
          <a:solidFill>
            <a:srgbClr val="0D4F8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99032"/>
            <a:ext cx="411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13533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临床药师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153619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 + 覆盖 + 签发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901952"/>
            <a:ext cx="411480" cy="265176"/>
          </a:xfrm>
          <a:prstGeom prst="roundRect">
            <a:avLst>
              <a:gd name="adj" fmla="val 13793"/>
            </a:avLst>
          </a:prstGeom>
          <a:solidFill>
            <a:srgbClr val="0E817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01952"/>
            <a:ext cx="411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" y="18562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药房主管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20391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审批覆盖 + 库存管理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240">
            <a:solidFill>
              <a:srgbClr val="D4A84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404872"/>
            <a:ext cx="411480" cy="265176"/>
          </a:xfrm>
          <a:prstGeom prst="roundRect">
            <a:avLst>
              <a:gd name="adj" fmla="val 13793"/>
            </a:avLst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404872"/>
            <a:ext cx="411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23591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质控审计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254203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全局查询 + 报表导出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96012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D4F8B"/>
                </a:solidFill>
              </a:rPr>
              <a:t>审计链 (OverrideAuditLog)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92040" y="1344168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1. 系统生成审查建议 (severity 分级)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2. 药师确认或覆盖 (override_reason 必填)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3. 覆盖原因记录 OverrideAuditLog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4. 质控审计角色可追溯查询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5. 统计报表: 拦截率 / 覆盖率 / 响应时间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7 个 API 端点: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  GET  /queue — 待审队列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  POST /decide — accept/override/escalate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  POST /submit — 最终签发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  GET  /audit — 审计日志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  GET  /audit/export — CSV 导出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  GET  /stats — 绩效统计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65760" y="3154680"/>
            <a:ext cx="8412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2461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E8174"/>
                </a:solidFill>
              </a:rPr>
              <a:t>模块文件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2920" y="3538728"/>
            <a:ext cx="8138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models.py (126L) — PharmacistReview / AlertDecision / OverrideAuditLog  |  routes.py (212L) — 7 API + 角色守卫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review_store.py — 审查状态存储  |  override_audit.py — 覆盖审计日志  |  queue.py — 审查队列优先级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stats.py — 药师绩效统计  |  db.py — SQLite 持久化层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Benchmark 验证体系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EBF5FB"/>
                </a:solidFill>
              </a:rPr>
              <a:t>309 测试用例 · 26 科室全覆盖 · 核心指标 100%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0D4F8B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51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0058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0E8174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051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0604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覆盖科室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27AE60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051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5488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规则命中率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10058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C0392B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051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90372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严重级别准确率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科室分布 (Top 10)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4114800" cy="22860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377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科室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377440" y="2377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用例数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91840" y="23774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通过率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4114800" cy="1828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606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心内科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377440" y="2606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91840" y="2606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2788920"/>
            <a:ext cx="411480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2788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内分泌科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377440" y="27889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91840" y="27889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2971800"/>
            <a:ext cx="4114800" cy="1828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2971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呼吸科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377440" y="29718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91840" y="29718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154680"/>
            <a:ext cx="411480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1546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消化科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377440" y="31546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91840" y="31546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3337560"/>
            <a:ext cx="4114800" cy="1828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3337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肾内科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377440" y="3337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91840" y="33375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3520440"/>
            <a:ext cx="411480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3520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神经内科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377440" y="35204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291840" y="35204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3703320"/>
            <a:ext cx="4114800" cy="1828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3703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ICU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377440" y="3703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291840" y="3703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7200" y="3886200"/>
            <a:ext cx="411480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3886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急诊科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377440" y="3886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291840" y="38862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" y="4069080"/>
            <a:ext cx="4114800" cy="1828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4069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感染科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377440" y="40690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291840" y="40690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57200" y="4251960"/>
            <a:ext cx="411480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251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骨科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377440" y="42519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291840" y="42519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846320" y="2057400"/>
            <a:ext cx="39319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98348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D4F8B"/>
                </a:solidFill>
              </a:rPr>
              <a:t>评估维度</a:t>
            </a: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983480" y="2441448"/>
            <a:ext cx="36576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规则命中率 — 已知风险被正确拦截 → 100%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严重级别准确率 — severity 分级正确 → 100%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科室覆盖率 — 26/26 科室有用例 → 100%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人群规则触发率 — 特殊人群禁忌检测 → 100%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过敏交叉检出率 — 过敏原交叉反应 → 100%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场景规则触发率 — 紧急场景优先级 → 100%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知识库版本对比: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  expanded_mined_v1 → 敏感度 8.2%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  hospital_production_v4 → 敏感度 100%</a:t>
            </a: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67" name="Text 65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技术亮点 &amp; 系统规模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EBF5FB"/>
                </a:solidFill>
              </a:rPr>
              <a:t>10 个阶段迭代 · 25,000+ 行后端代码 · 生产级架构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25,000+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后端代码行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96012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143+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1325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模块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44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1325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子模块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03720" y="96012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4A84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03720" y="1325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迭代阶段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核心模块规模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1031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knowledge_mining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920240" y="2130552"/>
            <a:ext cx="2918765" cy="128016"/>
          </a:xfrm>
          <a:prstGeom prst="roundRect">
            <a:avLst>
              <a:gd name="adj" fmla="val 21429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4912157" y="21031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3,192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232257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imaging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920240" y="2350008"/>
            <a:ext cx="2820924" cy="128016"/>
          </a:xfrm>
          <a:prstGeom prst="roundRect">
            <a:avLst>
              <a:gd name="adj" fmla="val 21429"/>
            </a:avLst>
          </a:prstGeom>
          <a:solidFill>
            <a:srgbClr val="0E8174"/>
          </a:solidFill>
          <a:ln/>
        </p:spPr>
      </p:sp>
      <p:sp>
        <p:nvSpPr>
          <p:cNvPr id="24" name="Text 22"/>
          <p:cNvSpPr/>
          <p:nvPr/>
        </p:nvSpPr>
        <p:spPr>
          <a:xfrm>
            <a:off x="4814316" y="232257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3,085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2542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920240" y="2569464"/>
            <a:ext cx="1838858" cy="128016"/>
          </a:xfrm>
          <a:prstGeom prst="roundRect">
            <a:avLst>
              <a:gd name="adj" fmla="val 21429"/>
            </a:avLst>
          </a:prstGeom>
          <a:solidFill>
            <a:srgbClr val="0D4F8B"/>
          </a:solidFill>
          <a:ln/>
        </p:spPr>
      </p:sp>
      <p:sp>
        <p:nvSpPr>
          <p:cNvPr id="27" name="Text 25"/>
          <p:cNvSpPr/>
          <p:nvPr/>
        </p:nvSpPr>
        <p:spPr>
          <a:xfrm>
            <a:off x="3832250" y="254203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2,011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" y="276148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(API层)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920240" y="2788920"/>
            <a:ext cx="1408176" cy="128016"/>
          </a:xfrm>
          <a:prstGeom prst="roundRect">
            <a:avLst>
              <a:gd name="adj" fmla="val 21429"/>
            </a:avLst>
          </a:prstGeom>
          <a:solidFill>
            <a:srgbClr val="0D4F8B"/>
          </a:solidFill>
          <a:ln/>
        </p:spPr>
      </p:sp>
      <p:sp>
        <p:nvSpPr>
          <p:cNvPr id="30" name="Text 28"/>
          <p:cNvSpPr/>
          <p:nvPr/>
        </p:nvSpPr>
        <p:spPr>
          <a:xfrm>
            <a:off x="3401568" y="276148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1,540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" y="29809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drug_catalog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920240" y="3008376"/>
            <a:ext cx="1272845" cy="128016"/>
          </a:xfrm>
          <a:prstGeom prst="roundRect">
            <a:avLst>
              <a:gd name="adj" fmla="val 21429"/>
            </a:avLst>
          </a:prstGeom>
          <a:solidFill>
            <a:srgbClr val="0E8174"/>
          </a:solidFill>
          <a:ln/>
        </p:spPr>
      </p:sp>
      <p:sp>
        <p:nvSpPr>
          <p:cNvPr id="33" name="Text 31"/>
          <p:cNvSpPr/>
          <p:nvPr/>
        </p:nvSpPr>
        <p:spPr>
          <a:xfrm>
            <a:off x="3266237" y="298094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1,392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7200" y="32004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920240" y="3227832"/>
            <a:ext cx="1100023" cy="128016"/>
          </a:xfrm>
          <a:prstGeom prst="roundRect">
            <a:avLst>
              <a:gd name="adj" fmla="val 21429"/>
            </a:avLst>
          </a:prstGeom>
          <a:solidFill>
            <a:srgbClr val="0E8174"/>
          </a:solidFill>
          <a:ln/>
        </p:spPr>
      </p:sp>
      <p:sp>
        <p:nvSpPr>
          <p:cNvPr id="36" name="Text 34"/>
          <p:cNvSpPr/>
          <p:nvPr/>
        </p:nvSpPr>
        <p:spPr>
          <a:xfrm>
            <a:off x="3093415" y="3200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1,203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" y="341985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pharmacy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920240" y="3447288"/>
            <a:ext cx="1064362" cy="128016"/>
          </a:xfrm>
          <a:prstGeom prst="roundRect">
            <a:avLst>
              <a:gd name="adj" fmla="val 21429"/>
            </a:avLst>
          </a:prstGeom>
          <a:solidFill>
            <a:srgbClr val="D4A843"/>
          </a:solidFill>
          <a:ln/>
        </p:spPr>
      </p:sp>
      <p:sp>
        <p:nvSpPr>
          <p:cNvPr id="39" name="Text 37"/>
          <p:cNvSpPr/>
          <p:nvPr/>
        </p:nvSpPr>
        <p:spPr>
          <a:xfrm>
            <a:off x="3057754" y="341985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1,164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57200" y="36393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fhir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920240" y="3666744"/>
            <a:ext cx="967435" cy="128016"/>
          </a:xfrm>
          <a:prstGeom prst="roundRect">
            <a:avLst>
              <a:gd name="adj" fmla="val 21429"/>
            </a:avLst>
          </a:prstGeom>
          <a:solidFill>
            <a:srgbClr val="D4A843"/>
          </a:solidFill>
          <a:ln/>
        </p:spPr>
      </p:sp>
      <p:sp>
        <p:nvSpPr>
          <p:cNvPr id="42" name="Text 40"/>
          <p:cNvSpPr/>
          <p:nvPr/>
        </p:nvSpPr>
        <p:spPr>
          <a:xfrm>
            <a:off x="2960827" y="363931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1,058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57200" y="385876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graph_rag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920240" y="3886200"/>
            <a:ext cx="829361" cy="128016"/>
          </a:xfrm>
          <a:prstGeom prst="roundRect">
            <a:avLst>
              <a:gd name="adj" fmla="val 21429"/>
            </a:avLst>
          </a:prstGeom>
          <a:solidFill>
            <a:srgbClr val="E67E22"/>
          </a:solidFill>
          <a:ln/>
        </p:spPr>
      </p:sp>
      <p:sp>
        <p:nvSpPr>
          <p:cNvPr id="45" name="Text 43"/>
          <p:cNvSpPr/>
          <p:nvPr/>
        </p:nvSpPr>
        <p:spPr>
          <a:xfrm>
            <a:off x="2822753" y="385876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907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57200" y="407822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920240" y="4105656"/>
            <a:ext cx="789127" cy="128016"/>
          </a:xfrm>
          <a:prstGeom prst="roundRect">
            <a:avLst>
              <a:gd name="adj" fmla="val 21429"/>
            </a:avLst>
          </a:prstGeom>
          <a:solidFill>
            <a:srgbClr val="E67E22"/>
          </a:solidFill>
          <a:ln/>
        </p:spPr>
      </p:sp>
      <p:sp>
        <p:nvSpPr>
          <p:cNvPr id="48" name="Text 46"/>
          <p:cNvSpPr/>
          <p:nvPr/>
        </p:nvSpPr>
        <p:spPr>
          <a:xfrm>
            <a:off x="2782519" y="407822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863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57200" y="4297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debate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920240" y="4325112"/>
            <a:ext cx="404165" cy="128016"/>
          </a:xfrm>
          <a:prstGeom prst="roundRect">
            <a:avLst>
              <a:gd name="adj" fmla="val 21429"/>
            </a:avLst>
          </a:prstGeom>
          <a:solidFill>
            <a:srgbClr val="8E44AD"/>
          </a:solidFill>
          <a:ln/>
        </p:spPr>
      </p:sp>
      <p:sp>
        <p:nvSpPr>
          <p:cNvPr id="51" name="Text 49"/>
          <p:cNvSpPr/>
          <p:nvPr/>
        </p:nvSpPr>
        <p:spPr>
          <a:xfrm>
            <a:off x="2397557" y="42976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7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442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303520" y="178308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44068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D4F8B"/>
                </a:solidFill>
              </a:rPr>
              <a:t>设计原则</a:t>
            </a: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440680" y="2167128"/>
            <a:ext cx="320040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确定性优先：规则 &gt; LLM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全链路审计：每步可追溯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FHIR R4 互操作：标准对接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人在回路：药师最终签发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数据驱动：真实世界信号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验证闭环：309 用例基准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科室专业：差异化审查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性能保障：规则 &lt; 50ms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优雅降级：LLM 不可用时纯规则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VLM 影像联动：视觉→用药建议</a:t>
            </a: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模块连接全景图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EBF5FB"/>
                </a:solidFill>
              </a:rPr>
              <a:t>全链路数据流 · 共享 ReviewEngine · 优雅降级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00400" y="164592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C0392B"/>
          </a:solidFill>
          <a:ln/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645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ReviewEngine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确定性规则核心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2286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24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9601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SafetyKnowledgeBase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CatalogAware KB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2286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240">
            <a:solidFill>
              <a:srgbClr val="0D4F8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828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SafetyModels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D4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DDI-BERT / Med7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697480"/>
            <a:ext cx="2286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240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6974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DepartmentRule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Prioritizer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09360" y="960120"/>
            <a:ext cx="25603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24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960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8E44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MultiAgentOrchestrator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8E44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辩论 → 仲裁 → 澄清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25603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240">
            <a:solidFill>
              <a:srgbClr val="E67E22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18288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CpoeReviewFacade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CPOE 医嘱审查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309360" y="2697480"/>
            <a:ext cx="25603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240">
            <a:solidFill>
              <a:srgbClr val="D4A84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9360" y="2697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FhirAdapter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FHIR R4 桥接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2286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240">
            <a:solidFill>
              <a:srgbClr val="0E817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3566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ImagingCatalog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E81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SegmentService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0" y="3566160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240">
            <a:solidFill>
              <a:srgbClr val="D4A843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0" y="3566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PharmacyQueue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OverrideAuditStore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309360" y="3566160"/>
            <a:ext cx="25603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524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35661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CaseStore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全链路持久化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60320" y="1097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7B93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560320" y="1965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7B93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560320" y="2834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7B93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0" y="1097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7B93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43600" y="1965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7B93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0" y="2834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7B93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297680" y="2286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7B93"/>
                </a:solidFill>
              </a:rPr>
              <a:t>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297680" y="3246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7B93"/>
                </a:solidFill>
              </a:rPr>
              <a:t>↕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" y="42976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43891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7AE60"/>
                </a:solidFill>
              </a:rPr>
              <a:t>优雅降级策略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2920" y="4681728"/>
            <a:ext cx="8138160" cy="-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LLM 不可用 → 纯规则模式 (rule-only)  |  DDI-BERT 未加载 → 仅 JSON 规则  |  VLM 未配置 → 影像分割独立运行  |  药物目录未加载 → 基础 KB 查询</a:t>
            </a:r>
            <a:endParaRPr lang="en-US" dirty="0"/>
          </a:p>
          <a:p>
            <a:pPr indent="0" marL="0">
              <a:lnSpc>
                <a:spcPct val="115000"/>
              </a:lnSpc>
              <a:buNone/>
            </a:pPr>
            <a:r>
              <a:rPr lang="en-US" dirty="0">
                <a:solidFill>
                  <a:srgbClr val="1B2838"/>
                </a:solidFill>
              </a:rPr>
              <a:t>/health 端点报告所有子系统状态: LLM / Vision LLM / Drug Catalog / Safety Models / Embedding / Knowledge Base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892040"/>
            <a:ext cx="4572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MedSafe · 智能用药安全审查系统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15200" y="4892040"/>
            <a:ext cx="13716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7B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MedSafe 后端算法架构 V3</dc:title>
  <dc:subject>PptxGenJS Presentation</dc:subject>
  <dc:creator>MedSafe Team</dc:creator>
  <cp:lastModifiedBy>MedSafe Team</cp:lastModifiedBy>
  <cp:revision>1</cp:revision>
  <dcterms:created xsi:type="dcterms:W3CDTF">2026-06-24T01:29:25Z</dcterms:created>
  <dcterms:modified xsi:type="dcterms:W3CDTF">2026-06-24T01:29:25Z</dcterms:modified>
</cp:coreProperties>
</file>